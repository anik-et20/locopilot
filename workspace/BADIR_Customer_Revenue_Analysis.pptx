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(£K)</c:v>
                </c:pt>
              </c:strCache>
            </c:strRef>
          </c:tx>
          <c:spPr>
            <a:solidFill>
              <a:srgbClr val="02C39A"/>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Sheet1!$A$2:$A$6</c:f>
              <c:multiLvlStrCache>
                <c:ptCount val="5"/>
                <c:lvl>
                  <c:pt idx="0">
                    <c:v>Eire</c:v>
                  </c:pt>
                  <c:pt idx="1">
                    <c:v>Netherlands</c:v>
                  </c:pt>
                  <c:pt idx="2">
                    <c:v>Germany</c:v>
                  </c:pt>
                  <c:pt idx="3">
                    <c:v>France</c:v>
                  </c:pt>
                  <c:pt idx="4">
                    <c:v>Australia</c:v>
                  </c:pt>
                </c:lvl>
              </c:multiLvlStrCache>
            </c:multiLvlStrRef>
          </c:cat>
          <c:val>
            <c:numRef>
              <c:f>Sheet1!$B$2:$B$6</c:f>
              <c:numCache>
                <c:formatCode>General</c:formatCode>
                <c:ptCount val="5"/>
                <c:pt idx="0">
                  <c:v>659</c:v>
                </c:pt>
                <c:pt idx="1">
                  <c:v>554</c:v>
                </c:pt>
                <c:pt idx="2">
                  <c:v>425</c:v>
                </c:pt>
                <c:pt idx="3">
                  <c:v>350</c:v>
                </c:pt>
                <c:pt idx="4">
                  <c:v>169</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EE0"/>
            </a:solidFill>
            <a:prstDash val="solid"/>
            <a:round/>
          </a:ln>
        </c:spPr>
        <c:txPr>
          <a:bodyPr/>
          <a:lstStyle/>
          <a:p>
            <a:pPr>
              <a:defRPr sz="1000" b="0" i="0" u="none" strike="noStrike">
                <a:solidFill>
                  <a:srgbClr val="3A425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F2"/>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3A425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Text 0"/>
          <p:cNvSpPr txBox="1"/>
          <p:nvPr/>
        </p:nvSpPr>
        <p:spPr>
          <a:xfrm>
            <a:off x="640080" y="594360"/>
            <a:ext cx="10881360" cy="36576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CUSTOMER VALUE ANALYSIS  ·  BADIR FRAMEWORK EXERCISE</a:t>
            </a:r>
            <a:endParaRPr lang="en-US" sz="1200" dirty="0"/>
          </a:p>
        </p:txBody>
      </p:sp>
      <p:sp>
        <p:nvSpPr>
          <p:cNvPr id="3" name="Text 1"/>
          <p:cNvSpPr txBox="1"/>
          <p:nvPr/>
        </p:nvSpPr>
        <p:spPr>
          <a:xfrm>
            <a:off x="640080" y="1051560"/>
            <a:ext cx="10058400" cy="155448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Where Retail Revenue Really Comes From: Segmenting an Online Retailer's Customers by Value</a:t>
            </a:r>
            <a:endParaRPr lang="en-US" sz="3400" dirty="0"/>
          </a:p>
        </p:txBody>
      </p:sp>
      <p:sp>
        <p:nvSpPr>
          <p:cNvPr id="4" name="Text 2"/>
          <p:cNvSpPr txBox="1"/>
          <p:nvPr/>
        </p:nvSpPr>
        <p:spPr>
          <a:xfrm>
            <a:off x="640080" y="2697480"/>
            <a:ext cx="9601200" cy="914400"/>
          </a:xfrm>
          <a:prstGeom prst="rect">
            <a:avLst/>
          </a:prstGeom>
          <a:noFill/>
          <a:ln/>
        </p:spPr>
        <p:txBody>
          <a:bodyPr wrap="square" lIns="0" tIns="0" rIns="0" bIns="0" rtlCol="0" anchor="ctr"/>
          <a:lstStyle/>
          <a:p>
            <a:pPr indent="0" marL="0">
              <a:lnSpc>
                <a:spcPct val="125000"/>
              </a:lnSpc>
              <a:buNone/>
            </a:pPr>
            <a:r>
              <a:rPr lang="en-US" sz="1450" dirty="0">
                <a:solidFill>
                  <a:srgbClr val="CADCFC"/>
                </a:solidFill>
                <a:latin typeface="Calibri" pitchFamily="34" charset="0"/>
                <a:ea typeface="Calibri" pitchFamily="34" charset="-122"/>
                <a:cs typeface="Calibri" pitchFamily="34" charset="-120"/>
              </a:rPr>
              <a:t>A UK-based online retailer sells gift and homeware items to customers worldwide. Revenue is growing, but the business doesn't know which customers to protect, which to win back, and which to stop chasing. This analysis mines two years of transactions to answer that with data.</a:t>
            </a:r>
            <a:endParaRPr lang="en-US" sz="1450" dirty="0"/>
          </a:p>
        </p:txBody>
      </p:sp>
      <p:sp>
        <p:nvSpPr>
          <p:cNvPr id="5" name="Shape 3"/>
          <p:cNvSpPr/>
          <p:nvPr/>
        </p:nvSpPr>
        <p:spPr>
          <a:xfrm>
            <a:off x="640080" y="3977640"/>
            <a:ext cx="10881360" cy="0"/>
          </a:xfrm>
          <a:prstGeom prst="line">
            <a:avLst/>
          </a:prstGeom>
          <a:noFill/>
          <a:ln w="12700">
            <a:solidFill>
              <a:srgbClr val="3B4380"/>
            </a:solidFill>
            <a:prstDash val="solid"/>
          </a:ln>
        </p:spPr>
      </p:sp>
      <p:sp>
        <p:nvSpPr>
          <p:cNvPr id="6" name="Text 4"/>
          <p:cNvSpPr txBox="1"/>
          <p:nvPr/>
        </p:nvSpPr>
        <p:spPr>
          <a:xfrm>
            <a:off x="640080" y="4297680"/>
            <a:ext cx="338328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1.07M</a:t>
            </a:r>
            <a:endParaRPr lang="en-US" sz="4000" dirty="0"/>
          </a:p>
        </p:txBody>
      </p:sp>
      <p:sp>
        <p:nvSpPr>
          <p:cNvPr id="7" name="Text 5"/>
          <p:cNvSpPr txBox="1"/>
          <p:nvPr/>
        </p:nvSpPr>
        <p:spPr>
          <a:xfrm>
            <a:off x="640080" y="5029200"/>
            <a:ext cx="3291840" cy="64008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Transaction line items analyzed (2009–2011)</a:t>
            </a:r>
            <a:endParaRPr lang="en-US" sz="1250" dirty="0"/>
          </a:p>
        </p:txBody>
      </p:sp>
      <p:sp>
        <p:nvSpPr>
          <p:cNvPr id="8" name="Text 6"/>
          <p:cNvSpPr txBox="1"/>
          <p:nvPr/>
        </p:nvSpPr>
        <p:spPr>
          <a:xfrm>
            <a:off x="4297680" y="4297680"/>
            <a:ext cx="338328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5,878</a:t>
            </a:r>
            <a:endParaRPr lang="en-US" sz="4000" dirty="0"/>
          </a:p>
        </p:txBody>
      </p:sp>
      <p:sp>
        <p:nvSpPr>
          <p:cNvPr id="9" name="Text 7"/>
          <p:cNvSpPr txBox="1"/>
          <p:nvPr/>
        </p:nvSpPr>
        <p:spPr>
          <a:xfrm>
            <a:off x="4297680" y="5029200"/>
            <a:ext cx="3291840" cy="64008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Unique customers profiled with RFM analysis</a:t>
            </a:r>
            <a:endParaRPr lang="en-US" sz="1250" dirty="0"/>
          </a:p>
        </p:txBody>
      </p:sp>
      <p:sp>
        <p:nvSpPr>
          <p:cNvPr id="10" name="Text 8"/>
          <p:cNvSpPr txBox="1"/>
          <p:nvPr/>
        </p:nvSpPr>
        <p:spPr>
          <a:xfrm>
            <a:off x="7955280" y="4297680"/>
            <a:ext cx="338328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4</a:t>
            </a:r>
            <a:endParaRPr lang="en-US" sz="4000" dirty="0"/>
          </a:p>
        </p:txBody>
      </p:sp>
      <p:sp>
        <p:nvSpPr>
          <p:cNvPr id="11" name="Text 9"/>
          <p:cNvSpPr txBox="1"/>
          <p:nvPr/>
        </p:nvSpPr>
        <p:spPr>
          <a:xfrm>
            <a:off x="7955280" y="5029200"/>
            <a:ext cx="3291840" cy="64008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Value-based customer segments identified (K-Means)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Data</a:t>
            </a:r>
            <a:endParaRPr lang="en-US" sz="3000" dirty="0"/>
          </a:p>
        </p:txBody>
      </p:sp>
      <p:sp>
        <p:nvSpPr>
          <p:cNvPr id="3" name="Text 1"/>
          <p:cNvSpPr txBox="1"/>
          <p:nvPr/>
        </p:nvSpPr>
        <p:spPr>
          <a:xfrm>
            <a:off x="640080" y="960120"/>
            <a:ext cx="82296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UCI “Online Retail II” dataset — combined 2009–2010 and 2010–2011 transaction sheets</a:t>
            </a:r>
            <a:endParaRPr lang="en-US" sz="1300" dirty="0"/>
          </a:p>
        </p:txBody>
      </p:sp>
      <p:sp>
        <p:nvSpPr>
          <p:cNvPr id="4" name="Shape 2"/>
          <p:cNvSpPr/>
          <p:nvPr/>
        </p:nvSpPr>
        <p:spPr>
          <a:xfrm>
            <a:off x="640080" y="1554480"/>
            <a:ext cx="54864" cy="566928"/>
          </a:xfrm>
          <a:prstGeom prst="rect">
            <a:avLst/>
          </a:prstGeom>
          <a:solidFill>
            <a:srgbClr val="02C39A"/>
          </a:solidFill>
          <a:ln/>
        </p:spPr>
      </p:sp>
      <p:sp>
        <p:nvSpPr>
          <p:cNvPr id="5" name="Text 3"/>
          <p:cNvSpPr txBox="1"/>
          <p:nvPr/>
        </p:nvSpPr>
        <p:spPr>
          <a:xfrm>
            <a:off x="868680" y="1508760"/>
            <a:ext cx="502920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Transactions &amp; Products</a:t>
            </a:r>
            <a:endParaRPr lang="en-US" sz="1450" dirty="0"/>
          </a:p>
        </p:txBody>
      </p:sp>
      <p:sp>
        <p:nvSpPr>
          <p:cNvPr id="6" name="Text 4"/>
          <p:cNvSpPr txBox="1"/>
          <p:nvPr/>
        </p:nvSpPr>
        <p:spPr>
          <a:xfrm>
            <a:off x="868680" y="1801368"/>
            <a:ext cx="5029200" cy="411480"/>
          </a:xfrm>
          <a:prstGeom prst="rect">
            <a:avLst/>
          </a:prstGeom>
          <a:noFill/>
          <a:ln/>
        </p:spPr>
        <p:txBody>
          <a:bodyPr wrap="square" lIns="0" tIns="0" rIns="0" bIns="0" rtlCol="0" anchor="ctr"/>
          <a:lstStyle/>
          <a:p>
            <a:pPr indent="0" marL="0">
              <a:lnSpc>
                <a:spcPct val="110000"/>
              </a:lnSpc>
              <a:buNone/>
            </a:pPr>
            <a:r>
              <a:rPr lang="en-US" sz="1150" dirty="0">
                <a:solidFill>
                  <a:srgbClr val="3A4257"/>
                </a:solidFill>
                <a:latin typeface="Calibri" pitchFamily="34" charset="0"/>
                <a:ea typeface="Calibri" pitchFamily="34" charset="-122"/>
                <a:cs typeface="Calibri" pitchFamily="34" charset="-120"/>
              </a:rPr>
              <a:t>Invoice, product code &amp; description, quantity, unit price; Revenue engineered as Quantity × Price</a:t>
            </a:r>
            <a:endParaRPr lang="en-US" sz="1150" dirty="0"/>
          </a:p>
        </p:txBody>
      </p:sp>
      <p:sp>
        <p:nvSpPr>
          <p:cNvPr id="7" name="Shape 5"/>
          <p:cNvSpPr/>
          <p:nvPr/>
        </p:nvSpPr>
        <p:spPr>
          <a:xfrm>
            <a:off x="640080" y="2423160"/>
            <a:ext cx="54864" cy="566928"/>
          </a:xfrm>
          <a:prstGeom prst="rect">
            <a:avLst/>
          </a:prstGeom>
          <a:solidFill>
            <a:srgbClr val="02C39A"/>
          </a:solidFill>
          <a:ln/>
        </p:spPr>
      </p:sp>
      <p:sp>
        <p:nvSpPr>
          <p:cNvPr id="8" name="Text 6"/>
          <p:cNvSpPr txBox="1"/>
          <p:nvPr/>
        </p:nvSpPr>
        <p:spPr>
          <a:xfrm>
            <a:off x="868680" y="2377440"/>
            <a:ext cx="502920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Customer &amp; Geography</a:t>
            </a:r>
            <a:endParaRPr lang="en-US" sz="1450" dirty="0"/>
          </a:p>
        </p:txBody>
      </p:sp>
      <p:sp>
        <p:nvSpPr>
          <p:cNvPr id="9" name="Text 7"/>
          <p:cNvSpPr txBox="1"/>
          <p:nvPr/>
        </p:nvSpPr>
        <p:spPr>
          <a:xfrm>
            <a:off x="868680" y="2670048"/>
            <a:ext cx="5029200" cy="411480"/>
          </a:xfrm>
          <a:prstGeom prst="rect">
            <a:avLst/>
          </a:prstGeom>
          <a:noFill/>
          <a:ln/>
        </p:spPr>
        <p:txBody>
          <a:bodyPr wrap="square" lIns="0" tIns="0" rIns="0" bIns="0" rtlCol="0" anchor="ctr"/>
          <a:lstStyle/>
          <a:p>
            <a:pPr indent="0" marL="0">
              <a:lnSpc>
                <a:spcPct val="110000"/>
              </a:lnSpc>
              <a:buNone/>
            </a:pPr>
            <a:r>
              <a:rPr lang="en-US" sz="1150" dirty="0">
                <a:solidFill>
                  <a:srgbClr val="3A4257"/>
                </a:solidFill>
                <a:latin typeface="Calibri" pitchFamily="34" charset="0"/>
                <a:ea typeface="Calibri" pitchFamily="34" charset="-122"/>
                <a:cs typeface="Calibri" pitchFamily="34" charset="-120"/>
              </a:rPr>
              <a:t>Customer ID and Country — enables customer-level and country-level revenue roll-ups</a:t>
            </a:r>
            <a:endParaRPr lang="en-US" sz="1150" dirty="0"/>
          </a:p>
        </p:txBody>
      </p:sp>
      <p:sp>
        <p:nvSpPr>
          <p:cNvPr id="10" name="Shape 8"/>
          <p:cNvSpPr/>
          <p:nvPr/>
        </p:nvSpPr>
        <p:spPr>
          <a:xfrm>
            <a:off x="640080" y="3291840"/>
            <a:ext cx="54864" cy="566928"/>
          </a:xfrm>
          <a:prstGeom prst="rect">
            <a:avLst/>
          </a:prstGeom>
          <a:solidFill>
            <a:srgbClr val="02C39A"/>
          </a:solidFill>
          <a:ln/>
        </p:spPr>
      </p:sp>
      <p:sp>
        <p:nvSpPr>
          <p:cNvPr id="11" name="Text 9"/>
          <p:cNvSpPr txBox="1"/>
          <p:nvPr/>
        </p:nvSpPr>
        <p:spPr>
          <a:xfrm>
            <a:off x="868680" y="3246120"/>
            <a:ext cx="502920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Time</a:t>
            </a:r>
            <a:endParaRPr lang="en-US" sz="1450" dirty="0"/>
          </a:p>
        </p:txBody>
      </p:sp>
      <p:sp>
        <p:nvSpPr>
          <p:cNvPr id="12" name="Text 10"/>
          <p:cNvSpPr txBox="1"/>
          <p:nvPr/>
        </p:nvSpPr>
        <p:spPr>
          <a:xfrm>
            <a:off x="868680" y="3538728"/>
            <a:ext cx="5029200" cy="411480"/>
          </a:xfrm>
          <a:prstGeom prst="rect">
            <a:avLst/>
          </a:prstGeom>
          <a:noFill/>
          <a:ln/>
        </p:spPr>
        <p:txBody>
          <a:bodyPr wrap="square" lIns="0" tIns="0" rIns="0" bIns="0" rtlCol="0" anchor="ctr"/>
          <a:lstStyle/>
          <a:p>
            <a:pPr indent="0" marL="0">
              <a:lnSpc>
                <a:spcPct val="110000"/>
              </a:lnSpc>
              <a:buNone/>
            </a:pPr>
            <a:r>
              <a:rPr lang="en-US" sz="1150" dirty="0">
                <a:solidFill>
                  <a:srgbClr val="3A4257"/>
                </a:solidFill>
                <a:latin typeface="Calibri" pitchFamily="34" charset="0"/>
                <a:ea typeface="Calibri" pitchFamily="34" charset="-122"/>
                <a:cs typeface="Calibri" pitchFamily="34" charset="-120"/>
              </a:rPr>
              <a:t>Invoice date parsed into year, month, day-of-week and hour — enables trend and weekday analysis</a:t>
            </a:r>
            <a:endParaRPr lang="en-US" sz="1150" dirty="0"/>
          </a:p>
        </p:txBody>
      </p:sp>
      <p:sp>
        <p:nvSpPr>
          <p:cNvPr id="13" name="Text 11"/>
          <p:cNvSpPr txBox="1"/>
          <p:nvPr/>
        </p:nvSpPr>
        <p:spPr>
          <a:xfrm>
            <a:off x="640080" y="4160520"/>
            <a:ext cx="5029200"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Data Quality &amp; ETL Steps</a:t>
            </a:r>
            <a:endParaRPr lang="en-US" sz="1450" dirty="0"/>
          </a:p>
        </p:txBody>
      </p:sp>
      <p:sp>
        <p:nvSpPr>
          <p:cNvPr id="14" name="Text 12"/>
          <p:cNvSpPr txBox="1"/>
          <p:nvPr/>
        </p:nvSpPr>
        <p:spPr>
          <a:xfrm>
            <a:off x="868680" y="4462272"/>
            <a:ext cx="4937760" cy="1691640"/>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1050" dirty="0">
                <a:solidFill>
                  <a:srgbClr val="3A4257"/>
                </a:solidFill>
                <a:latin typeface="Calibri" pitchFamily="34" charset="0"/>
                <a:ea typeface="Calibri" pitchFamily="34" charset="-122"/>
                <a:cs typeface="Calibri" pitchFamily="34" charset="-120"/>
              </a:rPr>
              <a:t>Combined both sheets (1,067,371 rows); removed 34,335 duplicate records</a:t>
            </a:r>
            <a:endParaRPr lang="en-US" sz="1050" dirty="0"/>
          </a:p>
          <a:p>
            <a:pPr marL="342900" indent="-342900">
              <a:lnSpc>
                <a:spcPct val="112000"/>
              </a:lnSpc>
              <a:spcAft>
                <a:spcPts val="500"/>
              </a:spcAft>
              <a:buSzPct val="100000"/>
              <a:buChar char="•"/>
            </a:pPr>
            <a:r>
              <a:rPr lang="en-US" sz="1050" dirty="0">
                <a:solidFill>
                  <a:srgbClr val="3A4257"/>
                </a:solidFill>
                <a:latin typeface="Calibri" pitchFamily="34" charset="0"/>
                <a:ea typeface="Calibri" pitchFamily="34" charset="-122"/>
                <a:cs typeface="Calibri" pitchFamily="34" charset="-120"/>
              </a:rPr>
              <a:t>Excluded cancelled invoices, and negative/zero quantity or price rows → 1,007,913 clean sales lines</a:t>
            </a:r>
            <a:endParaRPr lang="en-US" sz="1050" dirty="0"/>
          </a:p>
          <a:p>
            <a:pPr marL="342900" indent="-342900">
              <a:lnSpc>
                <a:spcPct val="112000"/>
              </a:lnSpc>
              <a:spcAft>
                <a:spcPts val="500"/>
              </a:spcAft>
              <a:buSzPct val="100000"/>
              <a:buChar char="•"/>
            </a:pPr>
            <a:r>
              <a:rPr lang="en-US" sz="1050" dirty="0">
                <a:solidFill>
                  <a:srgbClr val="3A4257"/>
                </a:solidFill>
                <a:latin typeface="Calibri" pitchFamily="34" charset="0"/>
                <a:ea typeface="Calibri" pitchFamily="34" charset="-122"/>
                <a:cs typeface="Calibri" pitchFamily="34" charset="-120"/>
              </a:rPr>
              <a:t>Dropped 243,007 rows (22.8%) with no Customer ID for customer-level work → 5,878 customers</a:t>
            </a:r>
            <a:endParaRPr lang="en-US" sz="1050" dirty="0"/>
          </a:p>
          <a:p>
            <a:pPr marL="342900" indent="-342900">
              <a:lnSpc>
                <a:spcPct val="112000"/>
              </a:lnSpc>
              <a:spcAft>
                <a:spcPts val="500"/>
              </a:spcAft>
              <a:buSzPct val="100000"/>
              <a:buChar char="•"/>
            </a:pPr>
            <a:r>
              <a:rPr lang="en-US" sz="1050" dirty="0">
                <a:solidFill>
                  <a:srgbClr val="3A4257"/>
                </a:solidFill>
                <a:latin typeface="Calibri" pitchFamily="34" charset="0"/>
                <a:ea typeface="Calibri" pitchFamily="34" charset="-122"/>
                <a:cs typeface="Calibri" pitchFamily="34" charset="-120"/>
              </a:rPr>
              <a:t>Engineered Recency, Frequency, Monetary features; log-transformed &amp; standardized for clustering</a:t>
            </a:r>
            <a:endParaRPr lang="en-US" sz="1050" dirty="0"/>
          </a:p>
        </p:txBody>
      </p:sp>
      <p:sp>
        <p:nvSpPr>
          <p:cNvPr id="15" name="Shape 13"/>
          <p:cNvSpPr/>
          <p:nvPr/>
        </p:nvSpPr>
        <p:spPr>
          <a:xfrm>
            <a:off x="6263640" y="1417320"/>
            <a:ext cx="5257800" cy="3246120"/>
          </a:xfrm>
          <a:prstGeom prst="roundRect">
            <a:avLst>
              <a:gd name="adj" fmla="val 2254"/>
            </a:avLst>
          </a:prstGeom>
          <a:solidFill>
            <a:srgbClr val="F1F4FB"/>
          </a:solidFill>
          <a:ln/>
          <a:effectLst>
            <a:outerShdw sx="100000" sy="100000" kx="0" ky="0" algn="bl" rotWithShape="0" blurRad="76200" dist="25400" dir="5400000">
              <a:srgbClr val="9AA5C7">
                <a:alpha val="25000"/>
              </a:srgbClr>
            </a:outerShdw>
          </a:effectLst>
        </p:spPr>
      </p:sp>
      <p:sp>
        <p:nvSpPr>
          <p:cNvPr id="16" name="Text 14"/>
          <p:cNvSpPr txBox="1"/>
          <p:nvPr/>
        </p:nvSpPr>
        <p:spPr>
          <a:xfrm>
            <a:off x="6537960" y="1600200"/>
            <a:ext cx="475488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Revenue by Country — Beyond the UK</a:t>
            </a:r>
            <a:endParaRPr lang="en-US" sz="1400" dirty="0"/>
          </a:p>
        </p:txBody>
      </p:sp>
      <p:sp>
        <p:nvSpPr>
          <p:cNvPr id="17" name="Text 15"/>
          <p:cNvSpPr txBox="1"/>
          <p:nvPr/>
        </p:nvSpPr>
        <p:spPr>
          <a:xfrm>
            <a:off x="6537960" y="1920240"/>
            <a:ext cx="4754880" cy="5029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Calibri" pitchFamily="34" charset="0"/>
                <a:ea typeface="Calibri" pitchFamily="34" charset="-122"/>
                <a:cs typeface="Calibri" pitchFamily="34" charset="-120"/>
              </a:rPr>
              <a:t>UK itself generated £17.4M — over 26× Eire, the next-largest market. Shown below: next five markets (£, thousands).</a:t>
            </a:r>
            <a:endParaRPr lang="en-US" sz="1050" dirty="0"/>
          </a:p>
        </p:txBody>
      </p:sp>
      <p:graphicFrame>
        <p:nvGraphicFramePr>
          <p:cNvPr id="18" name="Chart 0" descr=""/>
          <p:cNvGraphicFramePr/>
          <p:nvPr/>
        </p:nvGraphicFramePr>
        <p:xfrm>
          <a:off x="6446520" y="2514600"/>
          <a:ext cx="4892040" cy="20116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640080" y="6400800"/>
            <a:ext cx="10881360" cy="0"/>
          </a:xfrm>
          <a:prstGeom prst="roundRect">
            <a:avLst/>
          </a:prstGeom>
          <a:ln/>
        </p:spPr>
      </p:sp>
      <p:sp>
        <p:nvSpPr>
          <p:cNvPr id="20" name="Shape 17"/>
          <p:cNvSpPr/>
          <p:nvPr/>
        </p:nvSpPr>
        <p:spPr>
          <a:xfrm>
            <a:off x="640080" y="6309360"/>
            <a:ext cx="10881360" cy="457200"/>
          </a:xfrm>
          <a:prstGeom prst="rect">
            <a:avLst/>
          </a:prstGeom>
          <a:solidFill>
            <a:srgbClr val="1E2761"/>
          </a:solidFill>
          <a:ln/>
        </p:spPr>
      </p:sp>
      <p:sp>
        <p:nvSpPr>
          <p:cNvPr id="21" name="Text 18"/>
          <p:cNvSpPr txBox="1"/>
          <p:nvPr/>
        </p:nvSpPr>
        <p:spPr>
          <a:xfrm>
            <a:off x="822960" y="6309360"/>
            <a:ext cx="105156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Primary Metrics:  </a:t>
            </a:r>
            <a:pPr indent="0" marL="0">
              <a:buNone/>
            </a:pPr>
            <a:r>
              <a:rPr lang="en-US" sz="1250" dirty="0">
                <a:solidFill>
                  <a:srgbClr val="CADCFC"/>
                </a:solidFill>
                <a:latin typeface="Calibri" pitchFamily="34" charset="0"/>
                <a:ea typeface="Calibri" pitchFamily="34" charset="-122"/>
                <a:cs typeface="Calibri" pitchFamily="34" charset="-120"/>
              </a:rPr>
              <a:t>Monetary Value (Total Revenue)      </a:t>
            </a:r>
            <a:pPr indent="0" marL="0">
              <a:buNone/>
            </a:pPr>
            <a:r>
              <a:rPr lang="en-US" sz="1250" b="1" dirty="0">
                <a:solidFill>
                  <a:srgbClr val="FFFFFF"/>
                </a:solidFill>
                <a:latin typeface="Calibri" pitchFamily="34" charset="0"/>
                <a:ea typeface="Calibri" pitchFamily="34" charset="-122"/>
                <a:cs typeface="Calibri" pitchFamily="34" charset="-120"/>
              </a:rPr>
              <a:t>Secondary:  </a:t>
            </a:r>
            <a:pPr indent="0" marL="0">
              <a:buNone/>
            </a:pPr>
            <a:r>
              <a:rPr lang="en-US" sz="1250" dirty="0">
                <a:solidFill>
                  <a:srgbClr val="CADCFC"/>
                </a:solidFill>
                <a:latin typeface="Calibri" pitchFamily="34" charset="0"/>
                <a:ea typeface="Calibri" pitchFamily="34" charset="-122"/>
                <a:cs typeface="Calibri" pitchFamily="34" charset="-120"/>
              </a:rPr>
              <a:t>Purchase Frequency, Recency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BADIR Framework Analysis</a:t>
            </a:r>
            <a:endParaRPr lang="en-US" sz="2800" dirty="0"/>
          </a:p>
        </p:txBody>
      </p:sp>
      <p:sp>
        <p:nvSpPr>
          <p:cNvPr id="3" name="Text 1"/>
          <p:cNvSpPr txBox="1"/>
          <p:nvPr/>
        </p:nvSpPr>
        <p:spPr>
          <a:xfrm>
            <a:off x="640080" y="896112"/>
            <a:ext cx="9144000" cy="32004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Business Question  →  Analysis Plan  →  Data  →  Insights  →  Recommendations</a:t>
            </a:r>
            <a:endParaRPr lang="en-US" sz="1250" dirty="0"/>
          </a:p>
        </p:txBody>
      </p:sp>
      <p:sp>
        <p:nvSpPr>
          <p:cNvPr id="4" name="Shape 2"/>
          <p:cNvSpPr/>
          <p:nvPr/>
        </p:nvSpPr>
        <p:spPr>
          <a:xfrm>
            <a:off x="640080" y="1417320"/>
            <a:ext cx="2084832" cy="1417320"/>
          </a:xfrm>
          <a:prstGeom prst="roundRect">
            <a:avLst>
              <a:gd name="adj" fmla="val 5161"/>
            </a:avLst>
          </a:prstGeom>
          <a:solidFill>
            <a:srgbClr val="F1F4FB"/>
          </a:solidFill>
          <a:ln/>
          <a:effectLst>
            <a:outerShdw sx="100000" sy="100000" kx="0" ky="0" algn="bl" rotWithShape="0" blurRad="76200" dist="25400" dir="5400000">
              <a:srgbClr val="9AA5C7">
                <a:alpha val="25000"/>
              </a:srgbClr>
            </a:outerShdw>
          </a:effectLst>
        </p:spPr>
      </p:sp>
      <p:sp>
        <p:nvSpPr>
          <p:cNvPr id="5" name="Shape 3"/>
          <p:cNvSpPr/>
          <p:nvPr/>
        </p:nvSpPr>
        <p:spPr>
          <a:xfrm>
            <a:off x="804672" y="1581912"/>
            <a:ext cx="457200" cy="457200"/>
          </a:xfrm>
          <a:prstGeom prst="roundRect">
            <a:avLst>
              <a:gd name="adj" fmla="val 16000"/>
            </a:avLst>
          </a:prstGeom>
          <a:solidFill>
            <a:srgbClr val="02C39A"/>
          </a:solidFill>
          <a:ln/>
        </p:spPr>
      </p:sp>
      <p:sp>
        <p:nvSpPr>
          <p:cNvPr id="6" name="Text 4"/>
          <p:cNvSpPr txBox="1"/>
          <p:nvPr/>
        </p:nvSpPr>
        <p:spPr>
          <a:xfrm>
            <a:off x="804672" y="15819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7" name="Text 5"/>
          <p:cNvSpPr txBox="1"/>
          <p:nvPr/>
        </p:nvSpPr>
        <p:spPr>
          <a:xfrm>
            <a:off x="804672" y="2103120"/>
            <a:ext cx="1755648"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Business Question</a:t>
            </a:r>
            <a:endParaRPr lang="en-US" sz="1250" dirty="0"/>
          </a:p>
        </p:txBody>
      </p:sp>
      <p:sp>
        <p:nvSpPr>
          <p:cNvPr id="8" name="Text 6"/>
          <p:cNvSpPr txBox="1"/>
          <p:nvPr/>
        </p:nvSpPr>
        <p:spPr>
          <a:xfrm>
            <a:off x="804672" y="2377440"/>
            <a:ext cx="1755648" cy="438912"/>
          </a:xfrm>
          <a:prstGeom prst="rect">
            <a:avLst/>
          </a:prstGeom>
          <a:noFill/>
          <a:ln/>
        </p:spPr>
        <p:txBody>
          <a:bodyPr wrap="square" lIns="0" tIns="0" rIns="0" bIns="0" rtlCol="0" anchor="ctr"/>
          <a:lstStyle/>
          <a:p>
            <a:pPr indent="0" marL="0">
              <a:lnSpc>
                <a:spcPct val="105000"/>
              </a:lnSpc>
              <a:buNone/>
            </a:pPr>
            <a:r>
              <a:rPr lang="en-US" sz="930" dirty="0">
                <a:solidFill>
                  <a:srgbClr val="3A4257"/>
                </a:solidFill>
                <a:latin typeface="Calibri" pitchFamily="34" charset="0"/>
                <a:ea typeface="Calibri" pitchFamily="34" charset="-122"/>
                <a:cs typeface="Calibri" pitchFamily="34" charset="-120"/>
              </a:rPr>
              <a:t>Which customers drive the business, and how should retention effort be targeted across very different value segments?</a:t>
            </a:r>
            <a:endParaRPr lang="en-US" sz="930" dirty="0"/>
          </a:p>
        </p:txBody>
      </p:sp>
      <p:sp>
        <p:nvSpPr>
          <p:cNvPr id="9" name="Shape 7"/>
          <p:cNvSpPr/>
          <p:nvPr/>
        </p:nvSpPr>
        <p:spPr>
          <a:xfrm>
            <a:off x="2852928" y="1417320"/>
            <a:ext cx="2084832" cy="1417320"/>
          </a:xfrm>
          <a:prstGeom prst="roundRect">
            <a:avLst>
              <a:gd name="adj" fmla="val 5161"/>
            </a:avLst>
          </a:prstGeom>
          <a:solidFill>
            <a:srgbClr val="F1F4FB"/>
          </a:solidFill>
          <a:ln/>
          <a:effectLst>
            <a:outerShdw sx="100000" sy="100000" kx="0" ky="0" algn="bl" rotWithShape="0" blurRad="76200" dist="25400" dir="5400000">
              <a:srgbClr val="9AA5C7">
                <a:alpha val="25000"/>
              </a:srgbClr>
            </a:outerShdw>
          </a:effectLst>
        </p:spPr>
      </p:sp>
      <p:sp>
        <p:nvSpPr>
          <p:cNvPr id="10" name="Shape 8"/>
          <p:cNvSpPr/>
          <p:nvPr/>
        </p:nvSpPr>
        <p:spPr>
          <a:xfrm>
            <a:off x="3017520" y="1581912"/>
            <a:ext cx="457200" cy="457200"/>
          </a:xfrm>
          <a:prstGeom prst="roundRect">
            <a:avLst>
              <a:gd name="adj" fmla="val 16000"/>
            </a:avLst>
          </a:prstGeom>
          <a:solidFill>
            <a:srgbClr val="1E2761"/>
          </a:solidFill>
          <a:ln/>
        </p:spPr>
      </p:sp>
      <p:sp>
        <p:nvSpPr>
          <p:cNvPr id="11" name="Text 9"/>
          <p:cNvSpPr txBox="1"/>
          <p:nvPr/>
        </p:nvSpPr>
        <p:spPr>
          <a:xfrm>
            <a:off x="3017520" y="15819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2" name="Text 10"/>
          <p:cNvSpPr txBox="1"/>
          <p:nvPr/>
        </p:nvSpPr>
        <p:spPr>
          <a:xfrm>
            <a:off x="3017520" y="2103120"/>
            <a:ext cx="1755648"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Analysis Plan</a:t>
            </a:r>
            <a:endParaRPr lang="en-US" sz="1250" dirty="0"/>
          </a:p>
        </p:txBody>
      </p:sp>
      <p:sp>
        <p:nvSpPr>
          <p:cNvPr id="13" name="Text 11"/>
          <p:cNvSpPr txBox="1"/>
          <p:nvPr/>
        </p:nvSpPr>
        <p:spPr>
          <a:xfrm>
            <a:off x="3017520" y="2377440"/>
            <a:ext cx="1755648" cy="438912"/>
          </a:xfrm>
          <a:prstGeom prst="rect">
            <a:avLst/>
          </a:prstGeom>
          <a:noFill/>
          <a:ln/>
        </p:spPr>
        <p:txBody>
          <a:bodyPr wrap="square" lIns="0" tIns="0" rIns="0" bIns="0" rtlCol="0" anchor="ctr"/>
          <a:lstStyle/>
          <a:p>
            <a:pPr indent="0" marL="0">
              <a:lnSpc>
                <a:spcPct val="105000"/>
              </a:lnSpc>
              <a:buNone/>
            </a:pPr>
            <a:r>
              <a:rPr lang="en-US" sz="930" dirty="0">
                <a:solidFill>
                  <a:srgbClr val="3A4257"/>
                </a:solidFill>
                <a:latin typeface="Calibri" pitchFamily="34" charset="0"/>
                <a:ea typeface="Calibri" pitchFamily="34" charset="-122"/>
                <a:cs typeface="Calibri" pitchFamily="34" charset="-120"/>
              </a:rPr>
              <a:t>Six questions spanning revenue concentration, purchase behavior, geography, seasonality, and RFM segmentation.</a:t>
            </a:r>
            <a:endParaRPr lang="en-US" sz="930" dirty="0"/>
          </a:p>
        </p:txBody>
      </p:sp>
      <p:sp>
        <p:nvSpPr>
          <p:cNvPr id="14" name="Shape 12"/>
          <p:cNvSpPr/>
          <p:nvPr/>
        </p:nvSpPr>
        <p:spPr>
          <a:xfrm>
            <a:off x="5065776" y="1417320"/>
            <a:ext cx="2084832" cy="1417320"/>
          </a:xfrm>
          <a:prstGeom prst="roundRect">
            <a:avLst>
              <a:gd name="adj" fmla="val 5161"/>
            </a:avLst>
          </a:prstGeom>
          <a:solidFill>
            <a:srgbClr val="F1F4FB"/>
          </a:solidFill>
          <a:ln/>
          <a:effectLst>
            <a:outerShdw sx="100000" sy="100000" kx="0" ky="0" algn="bl" rotWithShape="0" blurRad="76200" dist="25400" dir="5400000">
              <a:srgbClr val="9AA5C7">
                <a:alpha val="25000"/>
              </a:srgbClr>
            </a:outerShdw>
          </a:effectLst>
        </p:spPr>
      </p:sp>
      <p:sp>
        <p:nvSpPr>
          <p:cNvPr id="15" name="Shape 13"/>
          <p:cNvSpPr/>
          <p:nvPr/>
        </p:nvSpPr>
        <p:spPr>
          <a:xfrm>
            <a:off x="5230368" y="1581912"/>
            <a:ext cx="457200" cy="457200"/>
          </a:xfrm>
          <a:prstGeom prst="roundRect">
            <a:avLst>
              <a:gd name="adj" fmla="val 16000"/>
            </a:avLst>
          </a:prstGeom>
          <a:solidFill>
            <a:srgbClr val="02C39A"/>
          </a:solidFill>
          <a:ln/>
        </p:spPr>
      </p:sp>
      <p:sp>
        <p:nvSpPr>
          <p:cNvPr id="16" name="Text 14"/>
          <p:cNvSpPr txBox="1"/>
          <p:nvPr/>
        </p:nvSpPr>
        <p:spPr>
          <a:xfrm>
            <a:off x="5230368" y="15819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17" name="Text 15"/>
          <p:cNvSpPr txBox="1"/>
          <p:nvPr/>
        </p:nvSpPr>
        <p:spPr>
          <a:xfrm>
            <a:off x="5230368" y="2103120"/>
            <a:ext cx="1755648"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a:t>
            </a:r>
            <a:endParaRPr lang="en-US" sz="1250" dirty="0"/>
          </a:p>
        </p:txBody>
      </p:sp>
      <p:sp>
        <p:nvSpPr>
          <p:cNvPr id="18" name="Text 16"/>
          <p:cNvSpPr txBox="1"/>
          <p:nvPr/>
        </p:nvSpPr>
        <p:spPr>
          <a:xfrm>
            <a:off x="5230368" y="2377440"/>
            <a:ext cx="1755648" cy="438912"/>
          </a:xfrm>
          <a:prstGeom prst="rect">
            <a:avLst/>
          </a:prstGeom>
          <a:noFill/>
          <a:ln/>
        </p:spPr>
        <p:txBody>
          <a:bodyPr wrap="square" lIns="0" tIns="0" rIns="0" bIns="0" rtlCol="0" anchor="ctr"/>
          <a:lstStyle/>
          <a:p>
            <a:pPr indent="0" marL="0">
              <a:lnSpc>
                <a:spcPct val="105000"/>
              </a:lnSpc>
              <a:buNone/>
            </a:pPr>
            <a:r>
              <a:rPr lang="en-US" sz="930" dirty="0">
                <a:solidFill>
                  <a:srgbClr val="3A4257"/>
                </a:solidFill>
                <a:latin typeface="Calibri" pitchFamily="34" charset="0"/>
                <a:ea typeface="Calibri" pitchFamily="34" charset="-122"/>
                <a:cs typeface="Calibri" pitchFamily="34" charset="-120"/>
              </a:rPr>
              <a:t>1.07M transaction lines (2009–2011, UK retailer), cleaned to 5,878 identifiable customers.</a:t>
            </a:r>
            <a:endParaRPr lang="en-US" sz="930" dirty="0"/>
          </a:p>
        </p:txBody>
      </p:sp>
      <p:sp>
        <p:nvSpPr>
          <p:cNvPr id="19" name="Shape 17"/>
          <p:cNvSpPr/>
          <p:nvPr/>
        </p:nvSpPr>
        <p:spPr>
          <a:xfrm>
            <a:off x="7278624" y="1417320"/>
            <a:ext cx="2084832" cy="1417320"/>
          </a:xfrm>
          <a:prstGeom prst="roundRect">
            <a:avLst>
              <a:gd name="adj" fmla="val 5161"/>
            </a:avLst>
          </a:prstGeom>
          <a:solidFill>
            <a:srgbClr val="F1F4FB"/>
          </a:solidFill>
          <a:ln/>
          <a:effectLst>
            <a:outerShdw sx="100000" sy="100000" kx="0" ky="0" algn="bl" rotWithShape="0" blurRad="76200" dist="25400" dir="5400000">
              <a:srgbClr val="9AA5C7">
                <a:alpha val="25000"/>
              </a:srgbClr>
            </a:outerShdw>
          </a:effectLst>
        </p:spPr>
      </p:sp>
      <p:sp>
        <p:nvSpPr>
          <p:cNvPr id="20" name="Shape 18"/>
          <p:cNvSpPr/>
          <p:nvPr/>
        </p:nvSpPr>
        <p:spPr>
          <a:xfrm>
            <a:off x="7443216" y="1581912"/>
            <a:ext cx="457200" cy="457200"/>
          </a:xfrm>
          <a:prstGeom prst="roundRect">
            <a:avLst>
              <a:gd name="adj" fmla="val 16000"/>
            </a:avLst>
          </a:prstGeom>
          <a:solidFill>
            <a:srgbClr val="1E2761"/>
          </a:solidFill>
          <a:ln/>
        </p:spPr>
      </p:sp>
      <p:sp>
        <p:nvSpPr>
          <p:cNvPr id="21" name="Text 19"/>
          <p:cNvSpPr txBox="1"/>
          <p:nvPr/>
        </p:nvSpPr>
        <p:spPr>
          <a:xfrm>
            <a:off x="7443216" y="15819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22" name="Text 20"/>
          <p:cNvSpPr txBox="1"/>
          <p:nvPr/>
        </p:nvSpPr>
        <p:spPr>
          <a:xfrm>
            <a:off x="7443216" y="2103120"/>
            <a:ext cx="1755648"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Insights</a:t>
            </a:r>
            <a:endParaRPr lang="en-US" sz="1250" dirty="0"/>
          </a:p>
        </p:txBody>
      </p:sp>
      <p:sp>
        <p:nvSpPr>
          <p:cNvPr id="23" name="Text 21"/>
          <p:cNvSpPr txBox="1"/>
          <p:nvPr/>
        </p:nvSpPr>
        <p:spPr>
          <a:xfrm>
            <a:off x="7443216" y="2377440"/>
            <a:ext cx="1755648" cy="438912"/>
          </a:xfrm>
          <a:prstGeom prst="rect">
            <a:avLst/>
          </a:prstGeom>
          <a:noFill/>
          <a:ln/>
        </p:spPr>
        <p:txBody>
          <a:bodyPr wrap="square" lIns="0" tIns="0" rIns="0" bIns="0" rtlCol="0" anchor="ctr"/>
          <a:lstStyle/>
          <a:p>
            <a:pPr indent="0" marL="0">
              <a:lnSpc>
                <a:spcPct val="105000"/>
              </a:lnSpc>
              <a:buNone/>
            </a:pPr>
            <a:r>
              <a:rPr lang="en-US" sz="930" dirty="0">
                <a:solidFill>
                  <a:srgbClr val="3A4257"/>
                </a:solidFill>
                <a:latin typeface="Calibri" pitchFamily="34" charset="0"/>
                <a:ea typeface="Calibri" pitchFamily="34" charset="-122"/>
                <a:cs typeface="Calibri" pitchFamily="34" charset="-120"/>
              </a:rPr>
              <a:t>80/20 revenue concentration, frequency–revenue link, country &amp; weekday patterns, 4 K-Means segments.</a:t>
            </a:r>
            <a:endParaRPr lang="en-US" sz="930" dirty="0"/>
          </a:p>
        </p:txBody>
      </p:sp>
      <p:sp>
        <p:nvSpPr>
          <p:cNvPr id="24" name="Shape 22"/>
          <p:cNvSpPr/>
          <p:nvPr/>
        </p:nvSpPr>
        <p:spPr>
          <a:xfrm>
            <a:off x="9491472" y="1417320"/>
            <a:ext cx="2084832" cy="1417320"/>
          </a:xfrm>
          <a:prstGeom prst="roundRect">
            <a:avLst>
              <a:gd name="adj" fmla="val 5161"/>
            </a:avLst>
          </a:prstGeom>
          <a:solidFill>
            <a:srgbClr val="F1F4FB"/>
          </a:solidFill>
          <a:ln/>
          <a:effectLst>
            <a:outerShdw sx="100000" sy="100000" kx="0" ky="0" algn="bl" rotWithShape="0" blurRad="76200" dist="25400" dir="5400000">
              <a:srgbClr val="9AA5C7">
                <a:alpha val="25000"/>
              </a:srgbClr>
            </a:outerShdw>
          </a:effectLst>
        </p:spPr>
      </p:sp>
      <p:sp>
        <p:nvSpPr>
          <p:cNvPr id="25" name="Shape 23"/>
          <p:cNvSpPr/>
          <p:nvPr/>
        </p:nvSpPr>
        <p:spPr>
          <a:xfrm>
            <a:off x="9656064" y="1581912"/>
            <a:ext cx="457200" cy="457200"/>
          </a:xfrm>
          <a:prstGeom prst="roundRect">
            <a:avLst>
              <a:gd name="adj" fmla="val 16000"/>
            </a:avLst>
          </a:prstGeom>
          <a:solidFill>
            <a:srgbClr val="02C39A"/>
          </a:solidFill>
          <a:ln/>
        </p:spPr>
      </p:sp>
      <p:sp>
        <p:nvSpPr>
          <p:cNvPr id="26" name="Text 24"/>
          <p:cNvSpPr txBox="1"/>
          <p:nvPr/>
        </p:nvSpPr>
        <p:spPr>
          <a:xfrm>
            <a:off x="9656064" y="15819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27" name="Text 25"/>
          <p:cNvSpPr txBox="1"/>
          <p:nvPr/>
        </p:nvSpPr>
        <p:spPr>
          <a:xfrm>
            <a:off x="9656064" y="2103120"/>
            <a:ext cx="1755648"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Recommendations</a:t>
            </a:r>
            <a:endParaRPr lang="en-US" sz="1250" dirty="0"/>
          </a:p>
        </p:txBody>
      </p:sp>
      <p:sp>
        <p:nvSpPr>
          <p:cNvPr id="28" name="Text 26"/>
          <p:cNvSpPr txBox="1"/>
          <p:nvPr/>
        </p:nvSpPr>
        <p:spPr>
          <a:xfrm>
            <a:off x="9656064" y="2377440"/>
            <a:ext cx="1755648" cy="438912"/>
          </a:xfrm>
          <a:prstGeom prst="rect">
            <a:avLst/>
          </a:prstGeom>
          <a:noFill/>
          <a:ln/>
        </p:spPr>
        <p:txBody>
          <a:bodyPr wrap="square" lIns="0" tIns="0" rIns="0" bIns="0" rtlCol="0" anchor="ctr"/>
          <a:lstStyle/>
          <a:p>
            <a:pPr indent="0" marL="0">
              <a:lnSpc>
                <a:spcPct val="105000"/>
              </a:lnSpc>
              <a:buNone/>
            </a:pPr>
            <a:r>
              <a:rPr lang="en-US" sz="930" dirty="0">
                <a:solidFill>
                  <a:srgbClr val="3A4257"/>
                </a:solidFill>
                <a:latin typeface="Calibri" pitchFamily="34" charset="0"/>
                <a:ea typeface="Calibri" pitchFamily="34" charset="-122"/>
                <a:cs typeface="Calibri" pitchFamily="34" charset="-120"/>
              </a:rPr>
              <a:t>Protect top segment, win back at-risk customers, limit spend on dormant accounts, grow new ones.</a:t>
            </a:r>
            <a:endParaRPr lang="en-US" sz="930" dirty="0"/>
          </a:p>
        </p:txBody>
      </p:sp>
      <p:sp>
        <p:nvSpPr>
          <p:cNvPr id="29" name="Text 27"/>
          <p:cNvSpPr txBox="1"/>
          <p:nvPr/>
        </p:nvSpPr>
        <p:spPr>
          <a:xfrm>
            <a:off x="640080" y="3154680"/>
            <a:ext cx="54864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Questions Tested</a:t>
            </a:r>
            <a:endParaRPr lang="en-US" sz="1500" dirty="0"/>
          </a:p>
        </p:txBody>
      </p:sp>
      <p:sp>
        <p:nvSpPr>
          <p:cNvPr id="30" name="Text 28"/>
          <p:cNvSpPr txBox="1"/>
          <p:nvPr/>
        </p:nvSpPr>
        <p:spPr>
          <a:xfrm>
            <a:off x="640080" y="3474720"/>
            <a:ext cx="777240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Six questions (Q1–Q6), each tested against the cleaned transaction and RFM dataset</a:t>
            </a:r>
            <a:endParaRPr lang="en-US" sz="1050" dirty="0"/>
          </a:p>
        </p:txBody>
      </p:sp>
      <p:sp>
        <p:nvSpPr>
          <p:cNvPr id="31" name="Shape 29"/>
          <p:cNvSpPr/>
          <p:nvPr/>
        </p:nvSpPr>
        <p:spPr>
          <a:xfrm>
            <a:off x="640080" y="384048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32" name="Shape 30"/>
          <p:cNvSpPr/>
          <p:nvPr/>
        </p:nvSpPr>
        <p:spPr>
          <a:xfrm>
            <a:off x="804672" y="3986784"/>
            <a:ext cx="420624" cy="256032"/>
          </a:xfrm>
          <a:prstGeom prst="roundRect">
            <a:avLst>
              <a:gd name="adj" fmla="val 21429"/>
            </a:avLst>
          </a:prstGeom>
          <a:solidFill>
            <a:srgbClr val="1E2761"/>
          </a:solidFill>
          <a:ln/>
        </p:spPr>
      </p:sp>
      <p:sp>
        <p:nvSpPr>
          <p:cNvPr id="33" name="Text 31"/>
          <p:cNvSpPr txBox="1"/>
          <p:nvPr/>
        </p:nvSpPr>
        <p:spPr>
          <a:xfrm>
            <a:off x="804672" y="398678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34" name="Text 32"/>
          <p:cNvSpPr txBox="1"/>
          <p:nvPr/>
        </p:nvSpPr>
        <p:spPr>
          <a:xfrm>
            <a:off x="1325880" y="396849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Revenue Concentration</a:t>
            </a:r>
            <a:endParaRPr lang="en-US" sz="1250" dirty="0"/>
          </a:p>
        </p:txBody>
      </p:sp>
      <p:sp>
        <p:nvSpPr>
          <p:cNvPr id="35" name="Text 33"/>
          <p:cNvSpPr txBox="1"/>
          <p:nvPr/>
        </p:nvSpPr>
        <p:spPr>
          <a:xfrm>
            <a:off x="804672" y="435254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A small share of customers accounts for the large majority of total revenue (Pareto pattern).</a:t>
            </a:r>
            <a:endParaRPr lang="en-US" sz="1000" dirty="0"/>
          </a:p>
        </p:txBody>
      </p:sp>
      <p:sp>
        <p:nvSpPr>
          <p:cNvPr id="36" name="Shape 34"/>
          <p:cNvSpPr/>
          <p:nvPr/>
        </p:nvSpPr>
        <p:spPr>
          <a:xfrm>
            <a:off x="4325112" y="384048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37" name="Shape 35"/>
          <p:cNvSpPr/>
          <p:nvPr/>
        </p:nvSpPr>
        <p:spPr>
          <a:xfrm>
            <a:off x="4489704" y="3986784"/>
            <a:ext cx="420624" cy="256032"/>
          </a:xfrm>
          <a:prstGeom prst="roundRect">
            <a:avLst>
              <a:gd name="adj" fmla="val 21429"/>
            </a:avLst>
          </a:prstGeom>
          <a:solidFill>
            <a:srgbClr val="1E2761"/>
          </a:solidFill>
          <a:ln/>
        </p:spPr>
      </p:sp>
      <p:sp>
        <p:nvSpPr>
          <p:cNvPr id="38" name="Text 36"/>
          <p:cNvSpPr txBox="1"/>
          <p:nvPr/>
        </p:nvSpPr>
        <p:spPr>
          <a:xfrm>
            <a:off x="4489704" y="398678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39" name="Text 37"/>
          <p:cNvSpPr txBox="1"/>
          <p:nvPr/>
        </p:nvSpPr>
        <p:spPr>
          <a:xfrm>
            <a:off x="5010912" y="396849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Frequency vs. Order Size</a:t>
            </a:r>
            <a:endParaRPr lang="en-US" sz="1250" dirty="0"/>
          </a:p>
        </p:txBody>
      </p:sp>
      <p:sp>
        <p:nvSpPr>
          <p:cNvPr id="40" name="Text 38"/>
          <p:cNvSpPr txBox="1"/>
          <p:nvPr/>
        </p:nvSpPr>
        <p:spPr>
          <a:xfrm>
            <a:off x="4489704" y="435254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How often a customer buys predicts revenue better than how much they spend per order.</a:t>
            </a:r>
            <a:endParaRPr lang="en-US" sz="1000" dirty="0"/>
          </a:p>
        </p:txBody>
      </p:sp>
      <p:sp>
        <p:nvSpPr>
          <p:cNvPr id="41" name="Shape 39"/>
          <p:cNvSpPr/>
          <p:nvPr/>
        </p:nvSpPr>
        <p:spPr>
          <a:xfrm>
            <a:off x="8010144" y="384048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42" name="Shape 40"/>
          <p:cNvSpPr/>
          <p:nvPr/>
        </p:nvSpPr>
        <p:spPr>
          <a:xfrm>
            <a:off x="8174736" y="3986784"/>
            <a:ext cx="420624" cy="256032"/>
          </a:xfrm>
          <a:prstGeom prst="roundRect">
            <a:avLst>
              <a:gd name="adj" fmla="val 21429"/>
            </a:avLst>
          </a:prstGeom>
          <a:solidFill>
            <a:srgbClr val="1E2761"/>
          </a:solidFill>
          <a:ln/>
        </p:spPr>
      </p:sp>
      <p:sp>
        <p:nvSpPr>
          <p:cNvPr id="43" name="Text 41"/>
          <p:cNvSpPr txBox="1"/>
          <p:nvPr/>
        </p:nvSpPr>
        <p:spPr>
          <a:xfrm>
            <a:off x="8174736" y="398678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44" name="Text 42"/>
          <p:cNvSpPr txBox="1"/>
          <p:nvPr/>
        </p:nvSpPr>
        <p:spPr>
          <a:xfrm>
            <a:off x="8695944" y="396849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Geographic Concentration</a:t>
            </a:r>
            <a:endParaRPr lang="en-US" sz="1250" dirty="0"/>
          </a:p>
        </p:txBody>
      </p:sp>
      <p:sp>
        <p:nvSpPr>
          <p:cNvPr id="45" name="Text 43"/>
          <p:cNvSpPr txBox="1"/>
          <p:nvPr/>
        </p:nvSpPr>
        <p:spPr>
          <a:xfrm>
            <a:off x="8174736" y="435254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Revenue is heavily concentrated in the home market, with a long tail of smaller international markets.</a:t>
            </a:r>
            <a:endParaRPr lang="en-US" sz="1000" dirty="0"/>
          </a:p>
        </p:txBody>
      </p:sp>
      <p:sp>
        <p:nvSpPr>
          <p:cNvPr id="46" name="Shape 44"/>
          <p:cNvSpPr/>
          <p:nvPr/>
        </p:nvSpPr>
        <p:spPr>
          <a:xfrm>
            <a:off x="640080" y="525780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47" name="Shape 45"/>
          <p:cNvSpPr/>
          <p:nvPr/>
        </p:nvSpPr>
        <p:spPr>
          <a:xfrm>
            <a:off x="804672" y="5404104"/>
            <a:ext cx="420624" cy="256032"/>
          </a:xfrm>
          <a:prstGeom prst="roundRect">
            <a:avLst>
              <a:gd name="adj" fmla="val 21429"/>
            </a:avLst>
          </a:prstGeom>
          <a:solidFill>
            <a:srgbClr val="1E2761"/>
          </a:solidFill>
          <a:ln/>
        </p:spPr>
      </p:sp>
      <p:sp>
        <p:nvSpPr>
          <p:cNvPr id="48" name="Text 46"/>
          <p:cNvSpPr txBox="1"/>
          <p:nvPr/>
        </p:nvSpPr>
        <p:spPr>
          <a:xfrm>
            <a:off x="804672" y="540410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49" name="Text 47"/>
          <p:cNvSpPr txBox="1"/>
          <p:nvPr/>
        </p:nvSpPr>
        <p:spPr>
          <a:xfrm>
            <a:off x="1325880" y="538581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Seasonality &amp; Weekly Rhythm</a:t>
            </a:r>
            <a:endParaRPr lang="en-US" sz="1250" dirty="0"/>
          </a:p>
        </p:txBody>
      </p:sp>
      <p:sp>
        <p:nvSpPr>
          <p:cNvPr id="50" name="Text 48"/>
          <p:cNvSpPr txBox="1"/>
          <p:nvPr/>
        </p:nvSpPr>
        <p:spPr>
          <a:xfrm>
            <a:off x="804672" y="576986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Sales follow a seasonal calendar and a weekly rhythm, including a day with almost no trading.</a:t>
            </a:r>
            <a:endParaRPr lang="en-US" sz="1000" dirty="0"/>
          </a:p>
        </p:txBody>
      </p:sp>
      <p:sp>
        <p:nvSpPr>
          <p:cNvPr id="51" name="Shape 49"/>
          <p:cNvSpPr/>
          <p:nvPr/>
        </p:nvSpPr>
        <p:spPr>
          <a:xfrm>
            <a:off x="4325112" y="525780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52" name="Shape 50"/>
          <p:cNvSpPr/>
          <p:nvPr/>
        </p:nvSpPr>
        <p:spPr>
          <a:xfrm>
            <a:off x="4489704" y="5404104"/>
            <a:ext cx="420624" cy="256032"/>
          </a:xfrm>
          <a:prstGeom prst="roundRect">
            <a:avLst>
              <a:gd name="adj" fmla="val 21429"/>
            </a:avLst>
          </a:prstGeom>
          <a:solidFill>
            <a:srgbClr val="1E2761"/>
          </a:solidFill>
          <a:ln/>
        </p:spPr>
      </p:sp>
      <p:sp>
        <p:nvSpPr>
          <p:cNvPr id="53" name="Text 51"/>
          <p:cNvSpPr txBox="1"/>
          <p:nvPr/>
        </p:nvSpPr>
        <p:spPr>
          <a:xfrm>
            <a:off x="4489704" y="540410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54" name="Text 52"/>
          <p:cNvSpPr txBox="1"/>
          <p:nvPr/>
        </p:nvSpPr>
        <p:spPr>
          <a:xfrm>
            <a:off x="5010912" y="538581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Customer Value Segments</a:t>
            </a:r>
            <a:endParaRPr lang="en-US" sz="1250" dirty="0"/>
          </a:p>
        </p:txBody>
      </p:sp>
      <p:sp>
        <p:nvSpPr>
          <p:cNvPr id="55" name="Text 53"/>
          <p:cNvSpPr txBox="1"/>
          <p:nvPr/>
        </p:nvSpPr>
        <p:spPr>
          <a:xfrm>
            <a:off x="4489704" y="576986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Customers split into statistically distinct groups based on recency, frequency, and monetary value.</a:t>
            </a:r>
            <a:endParaRPr lang="en-US" sz="1000" dirty="0"/>
          </a:p>
        </p:txBody>
      </p:sp>
      <p:sp>
        <p:nvSpPr>
          <p:cNvPr id="56" name="Shape 54"/>
          <p:cNvSpPr/>
          <p:nvPr/>
        </p:nvSpPr>
        <p:spPr>
          <a:xfrm>
            <a:off x="8010144" y="5257800"/>
            <a:ext cx="3538728" cy="1280160"/>
          </a:xfrm>
          <a:prstGeom prst="roundRect">
            <a:avLst>
              <a:gd name="adj" fmla="val 5714"/>
            </a:avLst>
          </a:prstGeom>
          <a:solidFill>
            <a:srgbClr val="F1F4FB"/>
          </a:solidFill>
          <a:ln/>
          <a:effectLst>
            <a:outerShdw sx="100000" sy="100000" kx="0" ky="0" algn="bl" rotWithShape="0" blurRad="76200" dist="25400" dir="5400000">
              <a:srgbClr val="9AA5C7">
                <a:alpha val="25000"/>
              </a:srgbClr>
            </a:outerShdw>
          </a:effectLst>
        </p:spPr>
      </p:sp>
      <p:sp>
        <p:nvSpPr>
          <p:cNvPr id="57" name="Shape 55"/>
          <p:cNvSpPr/>
          <p:nvPr/>
        </p:nvSpPr>
        <p:spPr>
          <a:xfrm>
            <a:off x="8174736" y="5404104"/>
            <a:ext cx="420624" cy="256032"/>
          </a:xfrm>
          <a:prstGeom prst="roundRect">
            <a:avLst>
              <a:gd name="adj" fmla="val 21429"/>
            </a:avLst>
          </a:prstGeom>
          <a:solidFill>
            <a:srgbClr val="1E2761"/>
          </a:solidFill>
          <a:ln/>
        </p:spPr>
      </p:sp>
      <p:sp>
        <p:nvSpPr>
          <p:cNvPr id="58" name="Text 56"/>
          <p:cNvSpPr txBox="1"/>
          <p:nvPr/>
        </p:nvSpPr>
        <p:spPr>
          <a:xfrm>
            <a:off x="8174736" y="5404104"/>
            <a:ext cx="42062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Q6</a:t>
            </a:r>
            <a:endParaRPr lang="en-US" sz="1050" dirty="0"/>
          </a:p>
        </p:txBody>
      </p:sp>
      <p:sp>
        <p:nvSpPr>
          <p:cNvPr id="59" name="Text 57"/>
          <p:cNvSpPr txBox="1"/>
          <p:nvPr/>
        </p:nvSpPr>
        <p:spPr>
          <a:xfrm>
            <a:off x="8695944" y="5385816"/>
            <a:ext cx="2670048"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Dormant vs. Active Customers</a:t>
            </a:r>
            <a:endParaRPr lang="en-US" sz="1250" dirty="0"/>
          </a:p>
        </p:txBody>
      </p:sp>
      <p:sp>
        <p:nvSpPr>
          <p:cNvPr id="60" name="Text 58"/>
          <p:cNvSpPr txBox="1"/>
          <p:nvPr/>
        </p:nvSpPr>
        <p:spPr>
          <a:xfrm>
            <a:off x="8174736" y="5769864"/>
            <a:ext cx="3209544" cy="685800"/>
          </a:xfrm>
          <a:prstGeom prst="rect">
            <a:avLst/>
          </a:prstGeom>
          <a:noFill/>
          <a:ln/>
        </p:spPr>
        <p:txBody>
          <a:bodyPr wrap="square" lIns="0" tIns="0" rIns="0" bIns="0" rtlCol="0" anchor="ctr"/>
          <a:lstStyle/>
          <a:p>
            <a:pPr indent="0" marL="0">
              <a:lnSpc>
                <a:spcPct val="112000"/>
              </a:lnSpc>
              <a:buNone/>
            </a:pPr>
            <a:r>
              <a:rPr lang="en-US" sz="1000" dirty="0">
                <a:solidFill>
                  <a:srgbClr val="3A4257"/>
                </a:solidFill>
                <a:latin typeface="Calibri" pitchFamily="34" charset="0"/>
                <a:ea typeface="Calibri" pitchFamily="34" charset="-122"/>
                <a:cs typeface="Calibri" pitchFamily="34" charset="-120"/>
              </a:rPr>
              <a:t>A meaningful share of customers has effectively stopped buying and needs different treatment.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Customer &amp; Revenue Insights</a:t>
            </a:r>
            <a:endParaRPr lang="en-US" sz="2800" dirty="0"/>
          </a:p>
        </p:txBody>
      </p:sp>
      <p:sp>
        <p:nvSpPr>
          <p:cNvPr id="3" name="Text 1"/>
          <p:cNvSpPr txBox="1"/>
          <p:nvPr/>
        </p:nvSpPr>
        <p:spPr>
          <a:xfrm>
            <a:off x="640080" y="896112"/>
            <a:ext cx="100584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Where revenue is concentrated across customers and geographies, and why (Q1, Q2, Q3, Q5, Q6)</a:t>
            </a:r>
            <a:endParaRPr lang="en-US" sz="1200" dirty="0"/>
          </a:p>
        </p:txBody>
      </p:sp>
      <p:sp>
        <p:nvSpPr>
          <p:cNvPr id="4" name="Shape 2"/>
          <p:cNvSpPr/>
          <p:nvPr/>
        </p:nvSpPr>
        <p:spPr>
          <a:xfrm>
            <a:off x="640080" y="1371600"/>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5" name="Shape 3"/>
          <p:cNvSpPr/>
          <p:nvPr/>
        </p:nvSpPr>
        <p:spPr>
          <a:xfrm>
            <a:off x="822960" y="1554480"/>
            <a:ext cx="3172968" cy="292608"/>
          </a:xfrm>
          <a:prstGeom prst="roundRect">
            <a:avLst>
              <a:gd name="adj" fmla="val 50000"/>
            </a:avLst>
          </a:prstGeom>
          <a:solidFill>
            <a:srgbClr val="02C39A"/>
          </a:solidFill>
          <a:ln/>
        </p:spPr>
      </p:sp>
      <p:sp>
        <p:nvSpPr>
          <p:cNvPr id="6" name="Text 4"/>
          <p:cNvSpPr txBox="1"/>
          <p:nvPr/>
        </p:nvSpPr>
        <p:spPr>
          <a:xfrm>
            <a:off x="822960" y="1554480"/>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PARETO CONCENTRATION</a:t>
            </a:r>
            <a:endParaRPr lang="en-US" sz="950" dirty="0"/>
          </a:p>
        </p:txBody>
      </p:sp>
      <p:sp>
        <p:nvSpPr>
          <p:cNvPr id="7" name="Text 5"/>
          <p:cNvSpPr txBox="1"/>
          <p:nvPr/>
        </p:nvSpPr>
        <p:spPr>
          <a:xfrm>
            <a:off x="822960" y="1965960"/>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23% of customers → ~80% of revenue</a:t>
            </a:r>
            <a:endParaRPr lang="en-US" sz="1450" dirty="0"/>
          </a:p>
        </p:txBody>
      </p:sp>
      <p:sp>
        <p:nvSpPr>
          <p:cNvPr id="8" name="Text 6"/>
          <p:cNvSpPr txBox="1"/>
          <p:nvPr/>
        </p:nvSpPr>
        <p:spPr>
          <a:xfrm>
            <a:off x="822960" y="2542032"/>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1,353 of 5,878 customers (23.0%) generate approximately 80% of total revenue — textbook concentration.</a:t>
            </a:r>
            <a:endParaRPr lang="en-US" sz="1030" dirty="0"/>
          </a:p>
        </p:txBody>
      </p:sp>
      <p:sp>
        <p:nvSpPr>
          <p:cNvPr id="9" name="Shape 7"/>
          <p:cNvSpPr/>
          <p:nvPr/>
        </p:nvSpPr>
        <p:spPr>
          <a:xfrm>
            <a:off x="4325112" y="1371600"/>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10" name="Shape 8"/>
          <p:cNvSpPr/>
          <p:nvPr/>
        </p:nvSpPr>
        <p:spPr>
          <a:xfrm>
            <a:off x="4507992" y="1554480"/>
            <a:ext cx="3172968" cy="292608"/>
          </a:xfrm>
          <a:prstGeom prst="roundRect">
            <a:avLst>
              <a:gd name="adj" fmla="val 50000"/>
            </a:avLst>
          </a:prstGeom>
          <a:solidFill>
            <a:srgbClr val="1E2761"/>
          </a:solidFill>
          <a:ln/>
        </p:spPr>
      </p:sp>
      <p:sp>
        <p:nvSpPr>
          <p:cNvPr id="11" name="Text 9"/>
          <p:cNvSpPr txBox="1"/>
          <p:nvPr/>
        </p:nvSpPr>
        <p:spPr>
          <a:xfrm>
            <a:off x="4507992" y="1554480"/>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TOP CUSTOMER</a:t>
            </a:r>
            <a:endParaRPr lang="en-US" sz="950" dirty="0"/>
          </a:p>
        </p:txBody>
      </p:sp>
      <p:sp>
        <p:nvSpPr>
          <p:cNvPr id="12" name="Text 10"/>
          <p:cNvSpPr txBox="1"/>
          <p:nvPr/>
        </p:nvSpPr>
        <p:spPr>
          <a:xfrm>
            <a:off x="4507992" y="1965960"/>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Customer #18102 — £580,987</a:t>
            </a:r>
            <a:endParaRPr lang="en-US" sz="1450" dirty="0"/>
          </a:p>
        </p:txBody>
      </p:sp>
      <p:sp>
        <p:nvSpPr>
          <p:cNvPr id="13" name="Text 11"/>
          <p:cNvSpPr txBox="1"/>
          <p:nvPr/>
        </p:nvSpPr>
        <p:spPr>
          <a:xfrm>
            <a:off x="4507992" y="2542032"/>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Single highest-spending customer generated more revenue alone than roughly the bottom 1,500 customers combined.</a:t>
            </a:r>
            <a:endParaRPr lang="en-US" sz="1030" dirty="0"/>
          </a:p>
        </p:txBody>
      </p:sp>
      <p:sp>
        <p:nvSpPr>
          <p:cNvPr id="14" name="Shape 12"/>
          <p:cNvSpPr/>
          <p:nvPr/>
        </p:nvSpPr>
        <p:spPr>
          <a:xfrm>
            <a:off x="8010144" y="1371600"/>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15" name="Shape 13"/>
          <p:cNvSpPr/>
          <p:nvPr/>
        </p:nvSpPr>
        <p:spPr>
          <a:xfrm>
            <a:off x="8193024" y="1554480"/>
            <a:ext cx="3172968" cy="292608"/>
          </a:xfrm>
          <a:prstGeom prst="roundRect">
            <a:avLst>
              <a:gd name="adj" fmla="val 50000"/>
            </a:avLst>
          </a:prstGeom>
          <a:solidFill>
            <a:srgbClr val="1E2761"/>
          </a:solidFill>
          <a:ln/>
        </p:spPr>
      </p:sp>
      <p:sp>
        <p:nvSpPr>
          <p:cNvPr id="16" name="Text 14"/>
          <p:cNvSpPr txBox="1"/>
          <p:nvPr/>
        </p:nvSpPr>
        <p:spPr>
          <a:xfrm>
            <a:off x="8193024" y="1554480"/>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FREQUENCY DRIVES REVENUE</a:t>
            </a:r>
            <a:endParaRPr lang="en-US" sz="950" dirty="0"/>
          </a:p>
        </p:txBody>
      </p:sp>
      <p:sp>
        <p:nvSpPr>
          <p:cNvPr id="17" name="Text 15"/>
          <p:cNvSpPr txBox="1"/>
          <p:nvPr/>
        </p:nvSpPr>
        <p:spPr>
          <a:xfrm>
            <a:off x="8193024" y="1965960"/>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r = 0.63 frequency ↔ revenue</a:t>
            </a:r>
            <a:endParaRPr lang="en-US" sz="1450" dirty="0"/>
          </a:p>
        </p:txBody>
      </p:sp>
      <p:sp>
        <p:nvSpPr>
          <p:cNvPr id="18" name="Text 16"/>
          <p:cNvSpPr txBox="1"/>
          <p:nvPr/>
        </p:nvSpPr>
        <p:spPr>
          <a:xfrm>
            <a:off x="8193024" y="2542032"/>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Purchase frequency correlates with revenue far more than average order size (r ≈ 0.17); each extra order adds ~£697 in modeled revenue (R² = 0.39).</a:t>
            </a:r>
            <a:endParaRPr lang="en-US" sz="1030" dirty="0"/>
          </a:p>
        </p:txBody>
      </p:sp>
      <p:sp>
        <p:nvSpPr>
          <p:cNvPr id="19" name="Shape 17"/>
          <p:cNvSpPr/>
          <p:nvPr/>
        </p:nvSpPr>
        <p:spPr>
          <a:xfrm>
            <a:off x="640080" y="3685032"/>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20" name="Shape 18"/>
          <p:cNvSpPr/>
          <p:nvPr/>
        </p:nvSpPr>
        <p:spPr>
          <a:xfrm>
            <a:off x="822960" y="3867912"/>
            <a:ext cx="3172968" cy="292608"/>
          </a:xfrm>
          <a:prstGeom prst="roundRect">
            <a:avLst>
              <a:gd name="adj" fmla="val 50000"/>
            </a:avLst>
          </a:prstGeom>
          <a:solidFill>
            <a:srgbClr val="1E2761"/>
          </a:solidFill>
          <a:ln/>
        </p:spPr>
      </p:sp>
      <p:sp>
        <p:nvSpPr>
          <p:cNvPr id="21" name="Text 19"/>
          <p:cNvSpPr txBox="1"/>
          <p:nvPr/>
        </p:nvSpPr>
        <p:spPr>
          <a:xfrm>
            <a:off x="822960" y="3867912"/>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GEOGRAPHIC CONCENTRATION</a:t>
            </a:r>
            <a:endParaRPr lang="en-US" sz="950" dirty="0"/>
          </a:p>
        </p:txBody>
      </p:sp>
      <p:sp>
        <p:nvSpPr>
          <p:cNvPr id="22" name="Text 20"/>
          <p:cNvSpPr txBox="1"/>
          <p:nvPr/>
        </p:nvSpPr>
        <p:spPr>
          <a:xfrm>
            <a:off x="822960" y="4279392"/>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UK: 26× the next market</a:t>
            </a:r>
            <a:endParaRPr lang="en-US" sz="1450" dirty="0"/>
          </a:p>
        </p:txBody>
      </p:sp>
      <p:sp>
        <p:nvSpPr>
          <p:cNvPr id="23" name="Text 21"/>
          <p:cNvSpPr txBox="1"/>
          <p:nvPr/>
        </p:nvSpPr>
        <p:spPr>
          <a:xfrm>
            <a:off x="822960" y="4855464"/>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UK generated £17.4M in revenue — more than 26× Eire (£659K); the Netherlands has the highest average order value (£2,430).</a:t>
            </a:r>
            <a:endParaRPr lang="en-US" sz="1030" dirty="0"/>
          </a:p>
        </p:txBody>
      </p:sp>
      <p:sp>
        <p:nvSpPr>
          <p:cNvPr id="24" name="Shape 22"/>
          <p:cNvSpPr/>
          <p:nvPr/>
        </p:nvSpPr>
        <p:spPr>
          <a:xfrm>
            <a:off x="4325112" y="3685032"/>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25" name="Shape 23"/>
          <p:cNvSpPr/>
          <p:nvPr/>
        </p:nvSpPr>
        <p:spPr>
          <a:xfrm>
            <a:off x="4507992" y="3867912"/>
            <a:ext cx="3172968" cy="292608"/>
          </a:xfrm>
          <a:prstGeom prst="roundRect">
            <a:avLst>
              <a:gd name="adj" fmla="val 50000"/>
            </a:avLst>
          </a:prstGeom>
          <a:solidFill>
            <a:srgbClr val="02C39A"/>
          </a:solidFill>
          <a:ln/>
        </p:spPr>
      </p:sp>
      <p:sp>
        <p:nvSpPr>
          <p:cNvPr id="26" name="Text 24"/>
          <p:cNvSpPr txBox="1"/>
          <p:nvPr/>
        </p:nvSpPr>
        <p:spPr>
          <a:xfrm>
            <a:off x="4507992" y="3867912"/>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CHAMPIONS SEGMENT</a:t>
            </a:r>
            <a:endParaRPr lang="en-US" sz="950" dirty="0"/>
          </a:p>
        </p:txBody>
      </p:sp>
      <p:sp>
        <p:nvSpPr>
          <p:cNvPr id="27" name="Text 25"/>
          <p:cNvSpPr txBox="1"/>
          <p:nvPr/>
        </p:nvSpPr>
        <p:spPr>
          <a:xfrm>
            <a:off x="4507992" y="4279392"/>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1,192 customers → £12.8M (74%)</a:t>
            </a:r>
            <a:endParaRPr lang="en-US" sz="1450" dirty="0"/>
          </a:p>
        </p:txBody>
      </p:sp>
      <p:sp>
        <p:nvSpPr>
          <p:cNvPr id="28" name="Text 26"/>
          <p:cNvSpPr txBox="1"/>
          <p:nvPr/>
        </p:nvSpPr>
        <p:spPr>
          <a:xfrm>
            <a:off x="4507992" y="4855464"/>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Most recent &amp; frequent buyers (order every ~27 days, ~19 orders/year) generate the large majority of all revenue.</a:t>
            </a:r>
            <a:endParaRPr lang="en-US" sz="1030" dirty="0"/>
          </a:p>
        </p:txBody>
      </p:sp>
      <p:sp>
        <p:nvSpPr>
          <p:cNvPr id="29" name="Shape 27"/>
          <p:cNvSpPr/>
          <p:nvPr/>
        </p:nvSpPr>
        <p:spPr>
          <a:xfrm>
            <a:off x="8010144" y="3685032"/>
            <a:ext cx="3538728" cy="2148840"/>
          </a:xfrm>
          <a:prstGeom prst="roundRect">
            <a:avLst>
              <a:gd name="adj" fmla="val 3404"/>
            </a:avLst>
          </a:prstGeom>
          <a:solidFill>
            <a:srgbClr val="F1F4FB"/>
          </a:solidFill>
          <a:ln/>
          <a:effectLst>
            <a:outerShdw sx="100000" sy="100000" kx="0" ky="0" algn="bl" rotWithShape="0" blurRad="76200" dist="25400" dir="5400000">
              <a:srgbClr val="9AA5C7">
                <a:alpha val="25000"/>
              </a:srgbClr>
            </a:outerShdw>
          </a:effectLst>
        </p:spPr>
      </p:sp>
      <p:sp>
        <p:nvSpPr>
          <p:cNvPr id="30" name="Shape 28"/>
          <p:cNvSpPr/>
          <p:nvPr/>
        </p:nvSpPr>
        <p:spPr>
          <a:xfrm>
            <a:off x="8193024" y="3867912"/>
            <a:ext cx="3172968" cy="292608"/>
          </a:xfrm>
          <a:prstGeom prst="roundRect">
            <a:avLst>
              <a:gd name="adj" fmla="val 50000"/>
            </a:avLst>
          </a:prstGeom>
          <a:solidFill>
            <a:srgbClr val="C88A1E"/>
          </a:solidFill>
          <a:ln/>
        </p:spPr>
      </p:sp>
      <p:sp>
        <p:nvSpPr>
          <p:cNvPr id="31" name="Text 29"/>
          <p:cNvSpPr txBox="1"/>
          <p:nvPr/>
        </p:nvSpPr>
        <p:spPr>
          <a:xfrm>
            <a:off x="8193024" y="3867912"/>
            <a:ext cx="317296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AT-RISK &amp; DORMANT</a:t>
            </a:r>
            <a:endParaRPr lang="en-US" sz="950" dirty="0"/>
          </a:p>
        </p:txBody>
      </p:sp>
      <p:sp>
        <p:nvSpPr>
          <p:cNvPr id="32" name="Text 30"/>
          <p:cNvSpPr txBox="1"/>
          <p:nvPr/>
        </p:nvSpPr>
        <p:spPr>
          <a:xfrm>
            <a:off x="8193024" y="4279392"/>
            <a:ext cx="3172968" cy="594360"/>
          </a:xfrm>
          <a:prstGeom prst="rect">
            <a:avLst/>
          </a:prstGeom>
          <a:noFill/>
          <a:ln/>
        </p:spPr>
        <p:txBody>
          <a:bodyPr wrap="square" lIns="0" tIns="0" rIns="0" bIns="0" rtlCol="0" anchor="ctr"/>
          <a:lstStyle/>
          <a:p>
            <a:pPr indent="0" marL="0">
              <a:lnSpc>
                <a:spcPct val="105000"/>
              </a:lnSpc>
              <a:buNone/>
            </a:pPr>
            <a:r>
              <a:rPr lang="en-US" sz="1450" b="1" dirty="0">
                <a:solidFill>
                  <a:srgbClr val="1E2761"/>
                </a:solidFill>
                <a:latin typeface="Cambria" pitchFamily="34" charset="0"/>
                <a:ea typeface="Cambria" pitchFamily="34" charset="-122"/>
                <a:cs typeface="Cambria" pitchFamily="34" charset="-120"/>
              </a:rPr>
              <a:t>1,972 customers gone quiet</a:t>
            </a:r>
            <a:endParaRPr lang="en-US" sz="1450" dirty="0"/>
          </a:p>
        </p:txBody>
      </p:sp>
      <p:sp>
        <p:nvSpPr>
          <p:cNvPr id="33" name="Text 31"/>
          <p:cNvSpPr txBox="1"/>
          <p:nvPr/>
        </p:nvSpPr>
        <p:spPr>
          <a:xfrm>
            <a:off x="8193024" y="4855464"/>
            <a:ext cx="3172968" cy="868680"/>
          </a:xfrm>
          <a:prstGeom prst="rect">
            <a:avLst/>
          </a:prstGeom>
          <a:noFill/>
          <a:ln/>
        </p:spPr>
        <p:txBody>
          <a:bodyPr wrap="square" lIns="0" tIns="0" rIns="0" bIns="0" rtlCol="0" anchor="ctr"/>
          <a:lstStyle/>
          <a:p>
            <a:pPr indent="0" marL="0">
              <a:lnSpc>
                <a:spcPct val="118000"/>
              </a:lnSpc>
              <a:buNone/>
            </a:pPr>
            <a:r>
              <a:rPr lang="en-US" sz="1030" dirty="0">
                <a:solidFill>
                  <a:srgbClr val="3A4257"/>
                </a:solidFill>
                <a:latin typeface="Calibri" pitchFamily="34" charset="0"/>
                <a:ea typeface="Calibri" pitchFamily="34" charset="-122"/>
                <a:cs typeface="Calibri" pitchFamily="34" charset="-120"/>
              </a:rPr>
              <a:t>33% of customers by count — average 396 days since last order — contribute under 4% of total revenue.</a:t>
            </a:r>
            <a:endParaRPr lang="en-US" sz="1030" dirty="0"/>
          </a:p>
        </p:txBody>
      </p:sp>
      <p:sp>
        <p:nvSpPr>
          <p:cNvPr id="34" name="Shape 32"/>
          <p:cNvSpPr/>
          <p:nvPr/>
        </p:nvSpPr>
        <p:spPr>
          <a:xfrm>
            <a:off x="640080" y="6080760"/>
            <a:ext cx="10881360" cy="502920"/>
          </a:xfrm>
          <a:prstGeom prst="rect">
            <a:avLst/>
          </a:prstGeom>
          <a:solidFill>
            <a:srgbClr val="1E2761"/>
          </a:solidFill>
          <a:ln/>
        </p:spPr>
      </p:sp>
      <p:sp>
        <p:nvSpPr>
          <p:cNvPr id="35" name="Text 33"/>
          <p:cNvSpPr txBox="1"/>
          <p:nvPr/>
        </p:nvSpPr>
        <p:spPr>
          <a:xfrm>
            <a:off x="822960" y="6080760"/>
            <a:ext cx="105156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Key Takeaway:  </a:t>
            </a:r>
            <a:pPr indent="0" marL="0">
              <a:buNone/>
            </a:pPr>
            <a:r>
              <a:rPr lang="en-US" sz="1250" dirty="0">
                <a:solidFill>
                  <a:srgbClr val="CADCFC"/>
                </a:solidFill>
                <a:latin typeface="Calibri" pitchFamily="34" charset="0"/>
                <a:ea typeface="Calibri" pitchFamily="34" charset="-122"/>
                <a:cs typeface="Calibri" pitchFamily="34" charset="-120"/>
              </a:rPr>
              <a:t>£17.4M analyzed across 5,878 customers — a small, identifiable slice drives almost all revenue. Segmentation, not blanket marketing, is the lever.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Potential Business Impact</a:t>
            </a:r>
            <a:endParaRPr lang="en-US" sz="30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If recommendations below are applied to the segments identified:</a:t>
            </a:r>
            <a:endParaRPr lang="en-US" sz="1350" dirty="0"/>
          </a:p>
        </p:txBody>
      </p:sp>
      <p:sp>
        <p:nvSpPr>
          <p:cNvPr id="4" name="Shape 2"/>
          <p:cNvSpPr/>
          <p:nvPr/>
        </p:nvSpPr>
        <p:spPr>
          <a:xfrm>
            <a:off x="640080" y="1691640"/>
            <a:ext cx="3429000" cy="2240280"/>
          </a:xfrm>
          <a:prstGeom prst="roundRect">
            <a:avLst>
              <a:gd name="adj" fmla="val 3265"/>
            </a:avLst>
          </a:prstGeom>
          <a:solidFill>
            <a:srgbClr val="232C63"/>
          </a:solidFill>
          <a:ln/>
        </p:spPr>
      </p:sp>
      <p:sp>
        <p:nvSpPr>
          <p:cNvPr id="5" name="Shape 3"/>
          <p:cNvSpPr/>
          <p:nvPr/>
        </p:nvSpPr>
        <p:spPr>
          <a:xfrm>
            <a:off x="640080" y="1691640"/>
            <a:ext cx="3429000" cy="54864"/>
          </a:xfrm>
          <a:prstGeom prst="rect">
            <a:avLst/>
          </a:prstGeom>
          <a:solidFill>
            <a:srgbClr val="02C39A"/>
          </a:solidFill>
          <a:ln/>
        </p:spPr>
      </p:sp>
      <p:sp>
        <p:nvSpPr>
          <p:cNvPr id="6" name="Text 4"/>
          <p:cNvSpPr txBox="1"/>
          <p:nvPr/>
        </p:nvSpPr>
        <p:spPr>
          <a:xfrm>
            <a:off x="868680" y="1947672"/>
            <a:ext cx="29718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Revenue Protected ↑</a:t>
            </a:r>
            <a:endParaRPr lang="en-US" sz="1700" dirty="0"/>
          </a:p>
        </p:txBody>
      </p:sp>
      <p:sp>
        <p:nvSpPr>
          <p:cNvPr id="7" name="Text 5"/>
          <p:cNvSpPr txBox="1"/>
          <p:nvPr/>
        </p:nvSpPr>
        <p:spPr>
          <a:xfrm>
            <a:off x="868680" y="2468880"/>
            <a:ext cx="2971800" cy="132588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Loyalty and account management focused on the 1,192-customer Champions segment protects the £12.8M (74%) of revenue they already generate.</a:t>
            </a:r>
            <a:endParaRPr lang="en-US" sz="1150" dirty="0"/>
          </a:p>
        </p:txBody>
      </p:sp>
      <p:sp>
        <p:nvSpPr>
          <p:cNvPr id="8" name="Shape 6"/>
          <p:cNvSpPr/>
          <p:nvPr/>
        </p:nvSpPr>
        <p:spPr>
          <a:xfrm>
            <a:off x="4251960" y="1691640"/>
            <a:ext cx="3429000" cy="2240280"/>
          </a:xfrm>
          <a:prstGeom prst="roundRect">
            <a:avLst>
              <a:gd name="adj" fmla="val 3265"/>
            </a:avLst>
          </a:prstGeom>
          <a:solidFill>
            <a:srgbClr val="232C63"/>
          </a:solidFill>
          <a:ln/>
        </p:spPr>
      </p:sp>
      <p:sp>
        <p:nvSpPr>
          <p:cNvPr id="9" name="Shape 7"/>
          <p:cNvSpPr/>
          <p:nvPr/>
        </p:nvSpPr>
        <p:spPr>
          <a:xfrm>
            <a:off x="4251960" y="1691640"/>
            <a:ext cx="3429000" cy="54864"/>
          </a:xfrm>
          <a:prstGeom prst="rect">
            <a:avLst/>
          </a:prstGeom>
          <a:solidFill>
            <a:srgbClr val="C88A1E"/>
          </a:solidFill>
          <a:ln/>
        </p:spPr>
      </p:sp>
      <p:sp>
        <p:nvSpPr>
          <p:cNvPr id="10" name="Text 8"/>
          <p:cNvSpPr txBox="1"/>
          <p:nvPr/>
        </p:nvSpPr>
        <p:spPr>
          <a:xfrm>
            <a:off x="4480560" y="1947672"/>
            <a:ext cx="29718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Churn Reduced ↓</a:t>
            </a:r>
            <a:endParaRPr lang="en-US" sz="1700" dirty="0"/>
          </a:p>
        </p:txBody>
      </p:sp>
      <p:sp>
        <p:nvSpPr>
          <p:cNvPr id="11" name="Text 9"/>
          <p:cNvSpPr txBox="1"/>
          <p:nvPr/>
        </p:nvSpPr>
        <p:spPr>
          <a:xfrm>
            <a:off x="4480560" y="2468880"/>
            <a:ext cx="2971800" cy="132588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Targeted win-back offers for the 1,465-customer at-risk segment (£2.87M) can recover spend before customers lapse into the dormant group.</a:t>
            </a:r>
            <a:endParaRPr lang="en-US" sz="1150" dirty="0"/>
          </a:p>
        </p:txBody>
      </p:sp>
      <p:sp>
        <p:nvSpPr>
          <p:cNvPr id="12" name="Shape 10"/>
          <p:cNvSpPr/>
          <p:nvPr/>
        </p:nvSpPr>
        <p:spPr>
          <a:xfrm>
            <a:off x="7863840" y="1691640"/>
            <a:ext cx="3429000" cy="2240280"/>
          </a:xfrm>
          <a:prstGeom prst="roundRect">
            <a:avLst>
              <a:gd name="adj" fmla="val 3265"/>
            </a:avLst>
          </a:prstGeom>
          <a:solidFill>
            <a:srgbClr val="232C63"/>
          </a:solidFill>
          <a:ln/>
        </p:spPr>
      </p:sp>
      <p:sp>
        <p:nvSpPr>
          <p:cNvPr id="13" name="Shape 11"/>
          <p:cNvSpPr/>
          <p:nvPr/>
        </p:nvSpPr>
        <p:spPr>
          <a:xfrm>
            <a:off x="7863840" y="1691640"/>
            <a:ext cx="3429000" cy="54864"/>
          </a:xfrm>
          <a:prstGeom prst="rect">
            <a:avLst/>
          </a:prstGeom>
          <a:solidFill>
            <a:srgbClr val="02C39A"/>
          </a:solidFill>
          <a:ln/>
        </p:spPr>
      </p:sp>
      <p:sp>
        <p:nvSpPr>
          <p:cNvPr id="14" name="Text 12"/>
          <p:cNvSpPr txBox="1"/>
          <p:nvPr/>
        </p:nvSpPr>
        <p:spPr>
          <a:xfrm>
            <a:off x="8092440" y="1947672"/>
            <a:ext cx="29718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Marketing Efficiency ↑</a:t>
            </a:r>
            <a:endParaRPr lang="en-US" sz="1700" dirty="0"/>
          </a:p>
        </p:txBody>
      </p:sp>
      <p:sp>
        <p:nvSpPr>
          <p:cNvPr id="15" name="Text 13"/>
          <p:cNvSpPr txBox="1"/>
          <p:nvPr/>
        </p:nvSpPr>
        <p:spPr>
          <a:xfrm>
            <a:off x="8092440" y="2468880"/>
            <a:ext cx="2971800" cy="132588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Redirecting budget away from the 1,972 dormant customers (under 4% of revenue) toward new and growing segments improves ROI.</a:t>
            </a:r>
            <a:endParaRPr lang="en-US" sz="1150" dirty="0"/>
          </a:p>
        </p:txBody>
      </p:sp>
      <p:sp>
        <p:nvSpPr>
          <p:cNvPr id="16" name="Shape 14"/>
          <p:cNvSpPr/>
          <p:nvPr/>
        </p:nvSpPr>
        <p:spPr>
          <a:xfrm>
            <a:off x="640080" y="4160520"/>
            <a:ext cx="10881360" cy="1691640"/>
          </a:xfrm>
          <a:prstGeom prst="roundRect">
            <a:avLst>
              <a:gd name="adj" fmla="val 3243"/>
            </a:avLst>
          </a:prstGeom>
          <a:solidFill>
            <a:srgbClr val="FFFFFF"/>
          </a:solidFill>
          <a:ln/>
        </p:spPr>
      </p:sp>
      <p:sp>
        <p:nvSpPr>
          <p:cNvPr id="17" name="Text 15"/>
          <p:cNvSpPr txBox="1"/>
          <p:nvPr/>
        </p:nvSpPr>
        <p:spPr>
          <a:xfrm>
            <a:off x="914400" y="4389120"/>
            <a:ext cx="103327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Decision-Maker Takeaway</a:t>
            </a:r>
            <a:endParaRPr lang="en-US" sz="1400" dirty="0"/>
          </a:p>
        </p:txBody>
      </p:sp>
      <p:sp>
        <p:nvSpPr>
          <p:cNvPr id="18" name="Text 16"/>
          <p:cNvSpPr txBox="1"/>
          <p:nvPr/>
        </p:nvSpPr>
        <p:spPr>
          <a:xfrm>
            <a:off x="914400" y="4754880"/>
            <a:ext cx="10332720" cy="777240"/>
          </a:xfrm>
          <a:prstGeom prst="rect">
            <a:avLst/>
          </a:prstGeom>
          <a:noFill/>
          <a:ln/>
        </p:spPr>
        <p:txBody>
          <a:bodyPr wrap="square" lIns="0" tIns="0" rIns="0" bIns="0" rtlCol="0" anchor="ctr"/>
          <a:lstStyle/>
          <a:p>
            <a:pPr indent="0" marL="0">
              <a:lnSpc>
                <a:spcPct val="130000"/>
              </a:lnSpc>
              <a:buNone/>
            </a:pPr>
            <a:r>
              <a:rPr lang="en-US" sz="1300" dirty="0">
                <a:solidFill>
                  <a:srgbClr val="3A4257"/>
                </a:solidFill>
                <a:latin typeface="Calibri" pitchFamily="34" charset="0"/>
                <a:ea typeface="Calibri" pitchFamily="34" charset="-122"/>
                <a:cs typeface="Calibri" pitchFamily="34" charset="-120"/>
              </a:rPr>
              <a:t>Treat customers by segment, not as one pool. Track segment migration — Champions → At-Risk → Dormant — monthly to catch value erosion before it happens, rather than reacting after revenue has already been lost.</a:t>
            </a:r>
            <a:endParaRPr lang="en-US" sz="1300" dirty="0"/>
          </a:p>
        </p:txBody>
      </p:sp>
      <p:sp>
        <p:nvSpPr>
          <p:cNvPr id="19" name="Text 17"/>
          <p:cNvSpPr txBox="1"/>
          <p:nvPr/>
        </p:nvSpPr>
        <p:spPr>
          <a:xfrm>
            <a:off x="914400" y="5532120"/>
            <a:ext cx="1033272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Owner: Head of CRM / Customer Marketing   ·   Review cadence: Monthly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2026-09-04T05:44:43Z</dcterms:created>
  <dcterms:modified xsi:type="dcterms:W3CDTF">2026-09-04T05:44:43Z</dcterms:modified>
</cp:coreProperties>
</file>