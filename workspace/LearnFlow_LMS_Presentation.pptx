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60" r:id="rId5"/>
    <p:sldId id="263" r:id="rId6"/>
    <p:sldId id="264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</p:sldIdLst>
  <p:sldSz cx="9144000" cy="6858000" type="screen4x3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2" autoAdjust="0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14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34320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88620" y="7772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MANAGEMENT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</a:t>
            </a:r>
          </a:p>
          <a:p>
            <a:pPr marL="0" indent="0" algn="ctr">
              <a:buNone/>
            </a:pP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3017520" y="187452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Submitted by: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Aniket Vaishya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240907
</a:t>
            </a:r>
            <a:endParaRPr lang="en-US" sz="2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240907</a:t>
            </a:r>
            <a:endParaRPr lang="en-US" sz="2000" dirty="0"/>
          </a:p>
        </p:txBody>
      </p:sp>
      <p:pic>
        <p:nvPicPr>
          <p:cNvPr id="4" name="Image 0" descr="/home/claude/assets/bmu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2880360"/>
            <a:ext cx="1783080" cy="18288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11480" y="30632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Mentor:
Dr. Aradhana Narang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 Assistant Professor
SOET, BMU</a:t>
            </a:r>
            <a:endParaRPr lang="en-US" dirty="0"/>
          </a:p>
        </p:txBody>
      </p:sp>
      <p:sp>
        <p:nvSpPr>
          <p:cNvPr id="6" name="Text 3"/>
          <p:cNvSpPr txBox="1"/>
          <p:nvPr/>
        </p:nvSpPr>
        <p:spPr>
          <a:xfrm>
            <a:off x="5760720" y="30632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Mentor: </a:t>
            </a:r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Mr. </a:t>
            </a:r>
            <a:r>
              <a:rPr lang="en-US" dirty="0" err="1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Attendra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Sharma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Designation: Business Expansion
&amp; Strategy Head</a:t>
            </a:r>
            <a:endParaRPr lang="en-US" dirty="0"/>
          </a:p>
          <a:p>
            <a:pPr marL="0" indent="0">
              <a:lnSpc>
                <a:spcPct val="11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VentureX India</a:t>
            </a:r>
            <a:endParaRPr lang="en-US" dirty="0"/>
          </a:p>
        </p:txBody>
      </p:sp>
      <p:sp>
        <p:nvSpPr>
          <p:cNvPr id="7" name="Text 4"/>
          <p:cNvSpPr txBox="1"/>
          <p:nvPr/>
        </p:nvSpPr>
        <p:spPr>
          <a:xfrm>
            <a:off x="0" y="50749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SCHOOL-II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0" y="5440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School of Engineering &amp; Technology,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0" y="576072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BML Munjal University, 67th KM Stone, NH-8, Gurugram, Haryana 122413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0" y="62636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OF THE PRESENTATION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PS-II Station 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Summary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of the work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— Super Admin Portal, AI Tutor &amp; RAG, Student Platform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achievements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Scope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PS-II STATION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Venture X India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8046720" cy="46774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the Company</a:t>
            </a: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Est. date: 2022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Turnover: Not disclosed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Product type: Premium Coworking &amp; Flexible Workspace Solutions (Private Offices, Dedicated Desks, Meeting rooms, Event Spaces, Managed Office Solutions)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Number of employees: 11 – 50</a:t>
            </a:r>
          </a:p>
          <a:p>
            <a:pPr lvl="0"/>
            <a:endParaRPr lang="en-IN" sz="1600" dirty="0"/>
          </a:p>
          <a:p>
            <a:pPr marL="0" indent="0">
              <a:lnSpc>
                <a:spcPct val="115000"/>
              </a:lnSpc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Visited</a:t>
            </a:r>
            <a:endParaRPr lang="en-IN" sz="1600" b="1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Name of department: Technical Department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Nature of work: Full-stack web application development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Task allocated: Build LMS — a multi-role platform for students, teachers, parents, and admins</a:t>
            </a:r>
          </a:p>
          <a:p>
            <a:pPr lvl="0"/>
            <a:endParaRPr lang="en-IN" sz="1600" b="1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lvl="0"/>
            <a:r>
              <a:rPr lang="en-US" sz="16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Mentors</a:t>
            </a:r>
            <a:endParaRPr lang="en-US" sz="16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Name: Dr. Aradhana Narang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Department: School of Engineering &amp; Technology, BMU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Designation: Assistant Professor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sz="1600" dirty="0"/>
              <a:t>Contact info: 7550160204</a:t>
            </a:r>
          </a:p>
        </p:txBody>
      </p:sp>
      <p:sp>
        <p:nvSpPr>
          <p:cNvPr id="5" name="Text 3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TIMELINE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8229600" cy="5102352"/>
        </p:xfrm>
        <a:graphic>
          <a:graphicData uri="http://schemas.openxmlformats.org/drawingml/2006/table">
            <a:tbl>
              <a:tblPr/>
              <a:tblGrid>
                <a:gridCol w="640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Activities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4E7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01–05 Jun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Orientation; explored AI coding tools; studied CI/CD &amp; system architecture; project allocated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08–12 Jun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LMS requirements; created personas &amp; use cases; presented project proposal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15–19 Jun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Studied LMS architecture, roles, data flow &amp; database; presented technical architecture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22–26 Jun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Updated project to institute-oriented scope; created Figma wireframes; planned Super Admin dashboard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 Jun–03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Super Admin Portal &amp; functional schema mapped to ER diagram; mid-term 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06–10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Enhanced Student Platform frontend; descoped Super Admin Portal per mentor feedback; explored AI integration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13–17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Developed AI Tutor &amp; RAG app using Jina embeddings and Groq LLM; tested retrieval 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20–24 Jul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Refined &amp; validated AI Tutor; finalized documentation, diary &amp; final presentation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54480"/>
            <a:ext cx="7863840" cy="3108960"/>
          </a:xfrm>
          <a:prstGeom prst="roundRect">
            <a:avLst>
              <a:gd name="adj" fmla="val 2941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1783080"/>
            <a:ext cx="7315200" cy="265176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institutions manage a vast amount of academic and administrative information through isolated, manual procedures and disconnected communication channels — leading to inefficiency, information silos and poor visibility into academic affairs.</a:t>
            </a: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endParaRPr lang="en-US" sz="1600" dirty="0"/>
          </a:p>
          <a:p>
            <a:pPr marL="0" indent="0" algn="l">
              <a:lnSpc>
                <a:spcPct val="13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platform is needed to streamline learning activities, track progress, manage resources and enable secure communication across all stakeholders as institutions increasingly embrace digitalization.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89204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500" b="1" i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Learning Management System (LearnFlow) provides a single platform for academic management, stakeholder collaboration, information sharing and efficient educational processes.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 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365760" y="969265"/>
            <a:ext cx="8275320" cy="4899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29" name="Shape 5">
            <a:extLst>
              <a:ext uri="{FF2B5EF4-FFF2-40B4-BE49-F238E27FC236}">
                <a16:creationId xmlns:a16="http://schemas.microsoft.com/office/drawing/2014/main" id="{D87946FA-C6B0-22B0-95D4-2E6B073CD1EC}"/>
              </a:ext>
            </a:extLst>
          </p:cNvPr>
          <p:cNvSpPr/>
          <p:nvPr/>
        </p:nvSpPr>
        <p:spPr>
          <a:xfrm>
            <a:off x="502920" y="1106424"/>
            <a:ext cx="3931920" cy="365760"/>
          </a:xfrm>
          <a:prstGeom prst="rect">
            <a:avLst/>
          </a:prstGeom>
          <a:solidFill>
            <a:srgbClr val="DCE6F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0" name="Text 6">
            <a:extLst>
              <a:ext uri="{FF2B5EF4-FFF2-40B4-BE49-F238E27FC236}">
                <a16:creationId xmlns:a16="http://schemas.microsoft.com/office/drawing/2014/main" id="{F61AB4B9-16D8-3BE0-B20D-5BDE16E0C1C8}"/>
              </a:ext>
            </a:extLst>
          </p:cNvPr>
          <p:cNvSpPr txBox="1"/>
          <p:nvPr/>
        </p:nvSpPr>
        <p:spPr>
          <a:xfrm>
            <a:off x="640080" y="11064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· OVERALL PROJECT OBJECTIVES</a:t>
            </a:r>
            <a:endParaRPr lang="en-US" sz="1100" dirty="0"/>
          </a:p>
        </p:txBody>
      </p:sp>
      <p:sp>
        <p:nvSpPr>
          <p:cNvPr id="31" name="Text 7">
            <a:extLst>
              <a:ext uri="{FF2B5EF4-FFF2-40B4-BE49-F238E27FC236}">
                <a16:creationId xmlns:a16="http://schemas.microsoft.com/office/drawing/2014/main" id="{B6815988-1BA8-F3A3-BEC0-775D1468DFA8}"/>
              </a:ext>
            </a:extLst>
          </p:cNvPr>
          <p:cNvSpPr txBox="1"/>
          <p:nvPr/>
        </p:nvSpPr>
        <p:spPr>
          <a:xfrm>
            <a:off x="502920" y="16093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32" name="Text 8">
            <a:extLst>
              <a:ext uri="{FF2B5EF4-FFF2-40B4-BE49-F238E27FC236}">
                <a16:creationId xmlns:a16="http://schemas.microsoft.com/office/drawing/2014/main" id="{659674F8-E931-B5CF-504C-819F4362ACA7}"/>
              </a:ext>
            </a:extLst>
          </p:cNvPr>
          <p:cNvSpPr txBox="1"/>
          <p:nvPr/>
        </p:nvSpPr>
        <p:spPr>
          <a:xfrm>
            <a:off x="960120" y="1609344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Minimise academic workflow fragmentation 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give institutions a single platform for multiple education processes.</a:t>
            </a:r>
            <a:endParaRPr lang="en-US" sz="1000" dirty="0"/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F163A642-22A2-4E0C-B008-E40CAB4606C7}"/>
              </a:ext>
            </a:extLst>
          </p:cNvPr>
          <p:cNvSpPr txBox="1"/>
          <p:nvPr/>
        </p:nvSpPr>
        <p:spPr>
          <a:xfrm>
            <a:off x="50292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34" name="Text 10">
            <a:extLst>
              <a:ext uri="{FF2B5EF4-FFF2-40B4-BE49-F238E27FC236}">
                <a16:creationId xmlns:a16="http://schemas.microsoft.com/office/drawing/2014/main" id="{7AD6AFE0-955F-954C-981B-E55263E79959}"/>
              </a:ext>
            </a:extLst>
          </p:cNvPr>
          <p:cNvSpPr txBox="1"/>
          <p:nvPr/>
        </p:nvSpPr>
        <p:spPr>
          <a:xfrm>
            <a:off x="960120" y="24505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institute-based, multi-role LMS 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which educational institutes register and administer their own academic operations.</a:t>
            </a:r>
            <a:endParaRPr lang="en-US" sz="10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E0084B4D-647C-C134-70D8-87650498CF53}"/>
              </a:ext>
            </a:extLst>
          </p:cNvPr>
          <p:cNvSpPr txBox="1"/>
          <p:nvPr/>
        </p:nvSpPr>
        <p:spPr>
          <a:xfrm>
            <a:off x="502920" y="329184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36" name="Text 12">
            <a:extLst>
              <a:ext uri="{FF2B5EF4-FFF2-40B4-BE49-F238E27FC236}">
                <a16:creationId xmlns:a16="http://schemas.microsoft.com/office/drawing/2014/main" id="{7371767B-4CE3-2D8E-54E2-5A3ED5DB7652}"/>
              </a:ext>
            </a:extLst>
          </p:cNvPr>
          <p:cNvSpPr txBox="1"/>
          <p:nvPr/>
        </p:nvSpPr>
        <p:spPr>
          <a:xfrm>
            <a:off x="960120" y="3291840"/>
            <a:ext cx="3474720" cy="5988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role-based access 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five user roles: Student, Teacher, Parent, Institution Admin and Super Admin.</a:t>
            </a:r>
            <a:endParaRPr lang="en-US" sz="1000" dirty="0"/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F1639191-8BE0-B947-85F8-09C0B4394F35}"/>
              </a:ext>
            </a:extLst>
          </p:cNvPr>
          <p:cNvSpPr txBox="1"/>
          <p:nvPr/>
        </p:nvSpPr>
        <p:spPr>
          <a:xfrm>
            <a:off x="502920" y="4032505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Text 14">
            <a:extLst>
              <a:ext uri="{FF2B5EF4-FFF2-40B4-BE49-F238E27FC236}">
                <a16:creationId xmlns:a16="http://schemas.microsoft.com/office/drawing/2014/main" id="{7138B7F2-FCB7-9E22-A496-476F528647F7}"/>
              </a:ext>
            </a:extLst>
          </p:cNvPr>
          <p:cNvSpPr txBox="1"/>
          <p:nvPr/>
        </p:nvSpPr>
        <p:spPr>
          <a:xfrm>
            <a:off x="914400" y="4133087"/>
            <a:ext cx="3520440" cy="7269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</a:t>
            </a:r>
          </a:p>
          <a:p>
            <a:pPr marL="0" indent="0">
              <a:buNone/>
            </a:pPr>
            <a:endParaRPr lang="en-US" sz="1000" b="1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management, lesson management, assessment, attendance, gradebook, assignments, resources and communication </a:t>
            </a: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outset.</a:t>
            </a:r>
            <a:endParaRPr lang="en-US" sz="1000" dirty="0"/>
          </a:p>
        </p:txBody>
      </p:sp>
      <p:sp>
        <p:nvSpPr>
          <p:cNvPr id="39" name="Text 15">
            <a:extLst>
              <a:ext uri="{FF2B5EF4-FFF2-40B4-BE49-F238E27FC236}">
                <a16:creationId xmlns:a16="http://schemas.microsoft.com/office/drawing/2014/main" id="{12009991-0983-6D1C-15A2-2636124E1758}"/>
              </a:ext>
            </a:extLst>
          </p:cNvPr>
          <p:cNvSpPr txBox="1"/>
          <p:nvPr/>
        </p:nvSpPr>
        <p:spPr>
          <a:xfrm>
            <a:off x="502920" y="497433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40" name="Text 16">
            <a:extLst>
              <a:ext uri="{FF2B5EF4-FFF2-40B4-BE49-F238E27FC236}">
                <a16:creationId xmlns:a16="http://schemas.microsoft.com/office/drawing/2014/main" id="{FD8B4DFB-12D5-77A7-ABE3-E07DC14DEC78}"/>
              </a:ext>
            </a:extLst>
          </p:cNvPr>
          <p:cNvSpPr txBox="1"/>
          <p:nvPr/>
        </p:nvSpPr>
        <p:spPr>
          <a:xfrm>
            <a:off x="960120" y="4974336"/>
            <a:ext cx="3474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 layered, maintainable architecture 
</a:t>
            </a:r>
            <a:endParaRPr lang="en-US" sz="10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all modules follow a consistent structure.</a:t>
            </a:r>
            <a:endParaRPr lang="en-US" sz="1000" dirty="0"/>
          </a:p>
        </p:txBody>
      </p:sp>
      <p:sp>
        <p:nvSpPr>
          <p:cNvPr id="41" name="Shape 17">
            <a:extLst>
              <a:ext uri="{FF2B5EF4-FFF2-40B4-BE49-F238E27FC236}">
                <a16:creationId xmlns:a16="http://schemas.microsoft.com/office/drawing/2014/main" id="{486FAEA5-EFE1-7DC2-FCD6-A87B66378E9A}"/>
              </a:ext>
            </a:extLst>
          </p:cNvPr>
          <p:cNvSpPr/>
          <p:nvPr/>
        </p:nvSpPr>
        <p:spPr>
          <a:xfrm>
            <a:off x="4709160" y="1106424"/>
            <a:ext cx="3931920" cy="365760"/>
          </a:xfrm>
          <a:prstGeom prst="rect">
            <a:avLst/>
          </a:prstGeom>
          <a:solidFill>
            <a:srgbClr val="FBE4D5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91B8E77F-C802-490D-8B79-45E2A5ADCCEF}"/>
              </a:ext>
            </a:extLst>
          </p:cNvPr>
          <p:cNvSpPr txBox="1"/>
          <p:nvPr/>
        </p:nvSpPr>
        <p:spPr>
          <a:xfrm>
            <a:off x="4846320" y="11064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· MY INDIVIDUAL OBJECTIVES</a:t>
            </a:r>
            <a:endParaRPr lang="en-US" sz="1100" dirty="0"/>
          </a:p>
        </p:txBody>
      </p:sp>
      <p:sp>
        <p:nvSpPr>
          <p:cNvPr id="43" name="Text 19">
            <a:extLst>
              <a:ext uri="{FF2B5EF4-FFF2-40B4-BE49-F238E27FC236}">
                <a16:creationId xmlns:a16="http://schemas.microsoft.com/office/drawing/2014/main" id="{ADC4C330-E5FA-82F3-0216-DA21ADAB72A0}"/>
              </a:ext>
            </a:extLst>
          </p:cNvPr>
          <p:cNvSpPr txBox="1"/>
          <p:nvPr/>
        </p:nvSpPr>
        <p:spPr>
          <a:xfrm>
            <a:off x="4709160" y="160934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44" name="Text 20">
            <a:extLst>
              <a:ext uri="{FF2B5EF4-FFF2-40B4-BE49-F238E27FC236}">
                <a16:creationId xmlns:a16="http://schemas.microsoft.com/office/drawing/2014/main" id="{FE00FF68-1430-9E27-451A-4DA268625824}"/>
              </a:ext>
            </a:extLst>
          </p:cNvPr>
          <p:cNvSpPr txBox="1"/>
          <p:nvPr/>
        </p:nvSpPr>
        <p:spPr>
          <a:xfrm>
            <a:off x="5166360" y="1891128"/>
            <a:ext cx="3474720" cy="1754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/>
              <a:t>Develop the Super Admin module</a:t>
            </a: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</a:t>
            </a:r>
          </a:p>
          <a:p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IN" sz="1000" dirty="0"/>
              <a:t>manage institutions, users, roles and overall LMS administration from a centralized dashboard.</a:t>
            </a:r>
            <a:endParaRPr lang="en-US" sz="1000" dirty="0"/>
          </a:p>
        </p:txBody>
      </p:sp>
      <p:sp>
        <p:nvSpPr>
          <p:cNvPr id="45" name="Text 21">
            <a:extLst>
              <a:ext uri="{FF2B5EF4-FFF2-40B4-BE49-F238E27FC236}">
                <a16:creationId xmlns:a16="http://schemas.microsoft.com/office/drawing/2014/main" id="{D26C43A2-4F60-29AD-209C-C566088AB19F}"/>
              </a:ext>
            </a:extLst>
          </p:cNvPr>
          <p:cNvSpPr txBox="1"/>
          <p:nvPr/>
        </p:nvSpPr>
        <p:spPr>
          <a:xfrm>
            <a:off x="4709160" y="245059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" dirty="0"/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682ED3A2-5FE4-E593-790C-D34278B72FAF}"/>
              </a:ext>
            </a:extLst>
          </p:cNvPr>
          <p:cNvSpPr txBox="1"/>
          <p:nvPr/>
        </p:nvSpPr>
        <p:spPr>
          <a:xfrm>
            <a:off x="5166360" y="2450592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/>
              <a:t>Build the AI Tutor module</a:t>
            </a: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
</a:t>
            </a:r>
            <a:endParaRPr lang="en-US" sz="1000" dirty="0"/>
          </a:p>
          <a:p>
            <a:r>
              <a:rPr lang="en-IN" sz="1000" dirty="0"/>
              <a:t>to provide an intelligent, interactive learning assistant for students using AI-based question answering and academic support.</a:t>
            </a:r>
            <a:endParaRPr lang="en-US" sz="1000" dirty="0"/>
          </a:p>
        </p:txBody>
      </p:sp>
      <p:sp>
        <p:nvSpPr>
          <p:cNvPr id="47" name="Text 23">
            <a:extLst>
              <a:ext uri="{FF2B5EF4-FFF2-40B4-BE49-F238E27FC236}">
                <a16:creationId xmlns:a16="http://schemas.microsoft.com/office/drawing/2014/main" id="{AADBD465-AE5D-42F3-2E50-9EA9746C12AC}"/>
              </a:ext>
            </a:extLst>
          </p:cNvPr>
          <p:cNvSpPr txBox="1"/>
          <p:nvPr/>
        </p:nvSpPr>
        <p:spPr>
          <a:xfrm>
            <a:off x="4709160" y="324509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48" name="Text 24">
            <a:extLst>
              <a:ext uri="{FF2B5EF4-FFF2-40B4-BE49-F238E27FC236}">
                <a16:creationId xmlns:a16="http://schemas.microsoft.com/office/drawing/2014/main" id="{1FA2DC15-F26B-932F-DC30-E837D4A2BB74}"/>
              </a:ext>
            </a:extLst>
          </p:cNvPr>
          <p:cNvSpPr txBox="1"/>
          <p:nvPr/>
        </p:nvSpPr>
        <p:spPr>
          <a:xfrm>
            <a:off x="5189220" y="3277315"/>
            <a:ext cx="3474720" cy="656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/>
              <a:t>Design and implement the Functional Schema</a:t>
            </a: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r>
              <a:rPr lang="en-IN" sz="1000" dirty="0"/>
              <a:t>to define the system’s functional structure, relationships and workflows across the LMS modules.</a:t>
            </a:r>
            <a:endParaRPr lang="en-US" sz="1000" dirty="0"/>
          </a:p>
        </p:txBody>
      </p:sp>
      <p:sp>
        <p:nvSpPr>
          <p:cNvPr id="49" name="Text 25">
            <a:extLst>
              <a:ext uri="{FF2B5EF4-FFF2-40B4-BE49-F238E27FC236}">
                <a16:creationId xmlns:a16="http://schemas.microsoft.com/office/drawing/2014/main" id="{4B263626-8B8B-BA93-017E-15BEEE249015}"/>
              </a:ext>
            </a:extLst>
          </p:cNvPr>
          <p:cNvSpPr txBox="1"/>
          <p:nvPr/>
        </p:nvSpPr>
        <p:spPr>
          <a:xfrm>
            <a:off x="4724400" y="396747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20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4322B199-0880-C2C1-53D8-FCE7FC6234B5}"/>
              </a:ext>
            </a:extLst>
          </p:cNvPr>
          <p:cNvSpPr txBox="1"/>
          <p:nvPr/>
        </p:nvSpPr>
        <p:spPr>
          <a:xfrm>
            <a:off x="5166360" y="3950208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/>
              <a:t>Integrate my modules with the LMS backend</a:t>
            </a: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r>
              <a:rPr lang="en-IN" sz="1000" dirty="0"/>
              <a:t>ensuring smooth interaction between APIs, database models and the existing system architecture.</a:t>
            </a:r>
            <a:r>
              <a:rPr lang="en-US" sz="10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51" name="Text 27">
            <a:extLst>
              <a:ext uri="{FF2B5EF4-FFF2-40B4-BE49-F238E27FC236}">
                <a16:creationId xmlns:a16="http://schemas.microsoft.com/office/drawing/2014/main" id="{AEC1F8BA-BB1D-FEAD-6BE0-A983A1A650EB}"/>
              </a:ext>
            </a:extLst>
          </p:cNvPr>
          <p:cNvSpPr txBox="1"/>
          <p:nvPr/>
        </p:nvSpPr>
        <p:spPr>
          <a:xfrm>
            <a:off x="4709160" y="479145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BFB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200" dirty="0"/>
          </a:p>
        </p:txBody>
      </p:sp>
      <p:sp>
        <p:nvSpPr>
          <p:cNvPr id="52" name="Text 28">
            <a:extLst>
              <a:ext uri="{FF2B5EF4-FFF2-40B4-BE49-F238E27FC236}">
                <a16:creationId xmlns:a16="http://schemas.microsoft.com/office/drawing/2014/main" id="{129DB5A6-3259-A9E7-B4A7-1CB76133FF06}"/>
              </a:ext>
            </a:extLst>
          </p:cNvPr>
          <p:cNvSpPr txBox="1"/>
          <p:nvPr/>
        </p:nvSpPr>
        <p:spPr>
          <a:xfrm>
            <a:off x="5189220" y="4791456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000" b="1" dirty="0"/>
              <a:t>Test and validate the developed functionality</a:t>
            </a:r>
            <a:r>
              <a:rPr lang="en-US" sz="10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endParaRPr lang="en-US" sz="1000" dirty="0"/>
          </a:p>
          <a:p>
            <a:r>
              <a:rPr lang="en-IN" sz="1000" dirty="0"/>
              <a:t>by verifying API operations, handling edge cases and ensuring reliable integration with the overall LMS.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4003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31706" y="1161290"/>
            <a:ext cx="8229600" cy="46807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ASSUMPTIONS MADE</a:t>
            </a:r>
            <a:endParaRPr lang="en-US" sz="1200" b="1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endParaRPr lang="en-US" sz="1200" dirty="0">
              <a:solidFill>
                <a:srgbClr val="262626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assumptions framed development, based on the project scope and discussions with the industry mentor.</a:t>
            </a:r>
            <a:endParaRPr lang="en-US" sz="1200" dirty="0"/>
          </a:p>
        </p:txBody>
      </p:sp>
      <p:sp>
        <p:nvSpPr>
          <p:cNvPr id="5" name="Shape 5">
            <a:extLst>
              <a:ext uri="{FF2B5EF4-FFF2-40B4-BE49-F238E27FC236}">
                <a16:creationId xmlns:a16="http://schemas.microsoft.com/office/drawing/2014/main" id="{44E37799-E8A0-2BDC-D803-F018EB9EDD08}"/>
              </a:ext>
            </a:extLst>
          </p:cNvPr>
          <p:cNvSpPr/>
          <p:nvPr/>
        </p:nvSpPr>
        <p:spPr>
          <a:xfrm>
            <a:off x="544068" y="2313432"/>
            <a:ext cx="45719" cy="1029716"/>
          </a:xfrm>
          <a:prstGeom prst="rect">
            <a:avLst/>
          </a:prstGeom>
          <a:solidFill>
            <a:srgbClr val="4472C4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6" name="Shape 6">
            <a:extLst>
              <a:ext uri="{FF2B5EF4-FFF2-40B4-BE49-F238E27FC236}">
                <a16:creationId xmlns:a16="http://schemas.microsoft.com/office/drawing/2014/main" id="{E6A3D51A-0271-563F-178C-8724BF48CFE9}"/>
              </a:ext>
            </a:extLst>
          </p:cNvPr>
          <p:cNvSpPr/>
          <p:nvPr/>
        </p:nvSpPr>
        <p:spPr>
          <a:xfrm>
            <a:off x="585217" y="2313432"/>
            <a:ext cx="8097012" cy="1029716"/>
          </a:xfrm>
          <a:prstGeom prst="rect">
            <a:avLst/>
          </a:prstGeom>
          <a:solidFill>
            <a:srgbClr val="EAF1FB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C4F364C9-3500-5663-0284-B9A27B443511}"/>
              </a:ext>
            </a:extLst>
          </p:cNvPr>
          <p:cNvSpPr txBox="1"/>
          <p:nvPr/>
        </p:nvSpPr>
        <p:spPr>
          <a:xfrm>
            <a:off x="726949" y="240487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" dirty="0"/>
          </a:p>
        </p:txBody>
      </p:sp>
      <p:sp>
        <p:nvSpPr>
          <p:cNvPr id="8" name="Text 8">
            <a:extLst>
              <a:ext uri="{FF2B5EF4-FFF2-40B4-BE49-F238E27FC236}">
                <a16:creationId xmlns:a16="http://schemas.microsoft.com/office/drawing/2014/main" id="{D3B33066-128F-8FAE-8A20-82ADC7BD3000}"/>
              </a:ext>
            </a:extLst>
          </p:cNvPr>
          <p:cNvSpPr txBox="1"/>
          <p:nvPr/>
        </p:nvSpPr>
        <p:spPr>
          <a:xfrm>
            <a:off x="1229869" y="2404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— the institute-based model was adopted as final</a:t>
            </a:r>
            <a:endParaRPr lang="en-US" sz="1400" dirty="0"/>
          </a:p>
        </p:txBody>
      </p:sp>
      <p:sp>
        <p:nvSpPr>
          <p:cNvPr id="9" name="Text 9">
            <a:extLst>
              <a:ext uri="{FF2B5EF4-FFF2-40B4-BE49-F238E27FC236}">
                <a16:creationId xmlns:a16="http://schemas.microsoft.com/office/drawing/2014/main" id="{55927DC4-BA9F-8159-1078-30FAC739D032}"/>
              </a:ext>
            </a:extLst>
          </p:cNvPr>
          <p:cNvSpPr txBox="1"/>
          <p:nvPr/>
        </p:nvSpPr>
        <p:spPr>
          <a:xfrm>
            <a:off x="1229869" y="2758609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original company-centric approach was reviewed by the industry mentor, found architecturally over-complex, and simplified. Educational institutes register on the platform and administer their own academic operations.</a:t>
            </a:r>
            <a:endParaRPr lang="en-US" sz="1200" dirty="0"/>
          </a:p>
        </p:txBody>
      </p:sp>
      <p:sp>
        <p:nvSpPr>
          <p:cNvPr id="10" name="Shape 10">
            <a:extLst>
              <a:ext uri="{FF2B5EF4-FFF2-40B4-BE49-F238E27FC236}">
                <a16:creationId xmlns:a16="http://schemas.microsoft.com/office/drawing/2014/main" id="{E053AD3C-4803-676A-010D-DE345DB85782}"/>
              </a:ext>
            </a:extLst>
          </p:cNvPr>
          <p:cNvSpPr/>
          <p:nvPr/>
        </p:nvSpPr>
        <p:spPr>
          <a:xfrm>
            <a:off x="548639" y="3442716"/>
            <a:ext cx="45719" cy="1029716"/>
          </a:xfrm>
          <a:prstGeom prst="rect">
            <a:avLst/>
          </a:prstGeom>
          <a:solidFill>
            <a:srgbClr val="1F7A6C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1C7B2443-C9E7-2586-A38A-8E08CBBD7DAC}"/>
              </a:ext>
            </a:extLst>
          </p:cNvPr>
          <p:cNvSpPr/>
          <p:nvPr/>
        </p:nvSpPr>
        <p:spPr>
          <a:xfrm>
            <a:off x="589788" y="3442716"/>
            <a:ext cx="8097012" cy="1078991"/>
          </a:xfrm>
          <a:prstGeom prst="rect">
            <a:avLst/>
          </a:prstGeom>
          <a:solidFill>
            <a:srgbClr val="EAF3EE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12" name="Text 12">
            <a:extLst>
              <a:ext uri="{FF2B5EF4-FFF2-40B4-BE49-F238E27FC236}">
                <a16:creationId xmlns:a16="http://schemas.microsoft.com/office/drawing/2014/main" id="{88C28F02-F804-85E2-C86A-F114097FECD6}"/>
              </a:ext>
            </a:extLst>
          </p:cNvPr>
          <p:cNvSpPr txBox="1"/>
          <p:nvPr/>
        </p:nvSpPr>
        <p:spPr>
          <a:xfrm>
            <a:off x="731520" y="353415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3" name="Text 13">
            <a:extLst>
              <a:ext uri="{FF2B5EF4-FFF2-40B4-BE49-F238E27FC236}">
                <a16:creationId xmlns:a16="http://schemas.microsoft.com/office/drawing/2014/main" id="{93FC6D1C-946B-9F60-9E5C-14F59000CE9E}"/>
              </a:ext>
            </a:extLst>
          </p:cNvPr>
          <p:cNvSpPr txBox="1"/>
          <p:nvPr/>
        </p:nvSpPr>
        <p:spPr>
          <a:xfrm>
            <a:off x="1234440" y="354330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solidFill>
                  <a:srgbClr val="002060"/>
                </a:solidFill>
              </a:rPr>
              <a:t>Super Admin requires centralized administrative control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17" name="Text 17">
            <a:extLst>
              <a:ext uri="{FF2B5EF4-FFF2-40B4-BE49-F238E27FC236}">
                <a16:creationId xmlns:a16="http://schemas.microsoft.com/office/drawing/2014/main" id="{E726DE3E-AD53-4319-5E27-7903B3B71A23}"/>
              </a:ext>
            </a:extLst>
          </p:cNvPr>
          <p:cNvSpPr txBox="1"/>
          <p:nvPr/>
        </p:nvSpPr>
        <p:spPr>
          <a:xfrm>
            <a:off x="1188720" y="3872484"/>
            <a:ext cx="7325360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/>
              <a:t>It was assumed that the Super Admin would need a dedicated interface to manage and oversee key platform entities while maintaining appropriate role-based access and data consistency.</a:t>
            </a:r>
            <a:endParaRPr lang="en-US" sz="1200" dirty="0"/>
          </a:p>
        </p:txBody>
      </p:sp>
      <p:sp>
        <p:nvSpPr>
          <p:cNvPr id="18" name="Shape 18">
            <a:extLst>
              <a:ext uri="{FF2B5EF4-FFF2-40B4-BE49-F238E27FC236}">
                <a16:creationId xmlns:a16="http://schemas.microsoft.com/office/drawing/2014/main" id="{B64CD9EF-BB4A-BEB2-AE24-26245E2A9326}"/>
              </a:ext>
            </a:extLst>
          </p:cNvPr>
          <p:cNvSpPr/>
          <p:nvPr/>
        </p:nvSpPr>
        <p:spPr>
          <a:xfrm>
            <a:off x="548639" y="4721291"/>
            <a:ext cx="45719" cy="1135440"/>
          </a:xfrm>
          <a:prstGeom prst="rect">
            <a:avLst/>
          </a:prstGeom>
          <a:solidFill>
            <a:srgbClr val="C55A11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19" name="Shape 19">
            <a:extLst>
              <a:ext uri="{FF2B5EF4-FFF2-40B4-BE49-F238E27FC236}">
                <a16:creationId xmlns:a16="http://schemas.microsoft.com/office/drawing/2014/main" id="{2320D04A-5175-6FEA-1FEB-6020D3B71B47}"/>
              </a:ext>
            </a:extLst>
          </p:cNvPr>
          <p:cNvSpPr/>
          <p:nvPr/>
        </p:nvSpPr>
        <p:spPr>
          <a:xfrm>
            <a:off x="589788" y="4721290"/>
            <a:ext cx="8097012" cy="1181162"/>
          </a:xfrm>
          <a:prstGeom prst="rect">
            <a:avLst/>
          </a:prstGeom>
          <a:solidFill>
            <a:srgbClr val="FDEDE4"/>
          </a:solidFill>
          <a:ln/>
        </p:spPr>
        <p:txBody>
          <a:bodyPr/>
          <a:lstStyle/>
          <a:p>
            <a:endParaRPr lang="en-IN" sz="1200"/>
          </a:p>
        </p:txBody>
      </p:sp>
      <p:sp>
        <p:nvSpPr>
          <p:cNvPr id="20" name="Text 20">
            <a:extLst>
              <a:ext uri="{FF2B5EF4-FFF2-40B4-BE49-F238E27FC236}">
                <a16:creationId xmlns:a16="http://schemas.microsoft.com/office/drawing/2014/main" id="{ED355A9B-6345-72DB-C195-641416A93046}"/>
              </a:ext>
            </a:extLst>
          </p:cNvPr>
          <p:cNvSpPr txBox="1"/>
          <p:nvPr/>
        </p:nvSpPr>
        <p:spPr>
          <a:xfrm>
            <a:off x="726949" y="4829151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21">
            <a:extLst>
              <a:ext uri="{FF2B5EF4-FFF2-40B4-BE49-F238E27FC236}">
                <a16:creationId xmlns:a16="http://schemas.microsoft.com/office/drawing/2014/main" id="{65649D9F-967E-2452-C3DE-88879A0AD968}"/>
              </a:ext>
            </a:extLst>
          </p:cNvPr>
          <p:cNvSpPr txBox="1"/>
          <p:nvPr/>
        </p:nvSpPr>
        <p:spPr>
          <a:xfrm>
            <a:off x="1188720" y="4832603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400" b="1" dirty="0">
                <a:solidFill>
                  <a:srgbClr val="002060"/>
                </a:solidFill>
              </a:rPr>
              <a:t>AI Tutor should support conversational interaction</a:t>
            </a:r>
            <a:endParaRPr lang="en-US" sz="1400" b="1" dirty="0">
              <a:solidFill>
                <a:srgbClr val="002060"/>
              </a:solidFill>
            </a:endParaRPr>
          </a:p>
        </p:txBody>
      </p:sp>
      <p:sp>
        <p:nvSpPr>
          <p:cNvPr id="22" name="Text 22">
            <a:extLst>
              <a:ext uri="{FF2B5EF4-FFF2-40B4-BE49-F238E27FC236}">
                <a16:creationId xmlns:a16="http://schemas.microsoft.com/office/drawing/2014/main" id="{B9332D72-D80E-8D6C-00B4-E44C72E6EB3D}"/>
              </a:ext>
            </a:extLst>
          </p:cNvPr>
          <p:cNvSpPr txBox="1"/>
          <p:nvPr/>
        </p:nvSpPr>
        <p:spPr>
          <a:xfrm>
            <a:off x="1234440" y="5280660"/>
            <a:ext cx="7223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1200" dirty="0"/>
              <a:t>The initial implementation focused on PDF-based question answering. It was later assumed that a </a:t>
            </a:r>
            <a:r>
              <a:rPr lang="en-IN" sz="1200" b="1" dirty="0"/>
              <a:t>chatbot-style conversational interface</a:t>
            </a:r>
            <a:r>
              <a:rPr lang="en-IN" sz="1200" dirty="0"/>
              <a:t> would provide a more natural and continuous learning experience, allowing students to interact with the AI Tutor through multiple questions and responses.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3200" b="1" kern="0" spc="1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51280"/>
            <a:ext cx="8046720" cy="5140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2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 ANALYSIS &amp; SYSTEM UNDERSTANDING</a:t>
            </a:r>
            <a:endParaRPr lang="en-US" sz="20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endParaRPr lang="en-US" sz="15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overall LMS architecture, major modules, user roles and workflows before making changes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analysis on the Super Admin Portal and the Student Platform — existing interface, functionality &amp; requirements reviewed first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Analyzed the AI Tutor / RAG requirements: query–response flow, document search, embedding generation and LLM integration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Approach for each component finalized through discussions with team members and mentors</a:t>
            </a:r>
            <a:endParaRPr lang="en-US" sz="15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understanding fed directly into the functional schema, Super Admin features, RAG application and frontend changes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673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SCHEMA DEVELOPMENT</a:t>
            </a:r>
            <a:endParaRPr lang="en-US" sz="28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21930" y="4309810"/>
            <a:ext cx="1324574" cy="1005840"/>
          </a:xfrm>
          <a:prstGeom prst="roundRect">
            <a:avLst>
              <a:gd name="adj" fmla="val 7273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21930" y="4309810"/>
            <a:ext cx="132457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Requirements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User Roles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1758150" y="4703002"/>
            <a:ext cx="282268" cy="219456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040418" y="4309810"/>
            <a:ext cx="1324574" cy="1005840"/>
          </a:xfrm>
          <a:prstGeom prst="roundRect">
            <a:avLst>
              <a:gd name="adj" fmla="val 7273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040418" y="4309810"/>
            <a:ext cx="132457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&amp;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Screens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385782" y="4703002"/>
            <a:ext cx="282268" cy="219456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68050" y="4309810"/>
            <a:ext cx="1324574" cy="1005840"/>
          </a:xfrm>
          <a:prstGeom prst="roundRect">
            <a:avLst>
              <a:gd name="adj" fmla="val 7273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668050" y="4309810"/>
            <a:ext cx="132457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 (F001–F062)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13414" y="4703002"/>
            <a:ext cx="282268" cy="219456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95682" y="4309810"/>
            <a:ext cx="1324574" cy="1005840"/>
          </a:xfrm>
          <a:prstGeom prst="roundRect">
            <a:avLst>
              <a:gd name="adj" fmla="val 7273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295682" y="4309810"/>
            <a:ext cx="132457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 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(21 tables)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641046" y="4703002"/>
            <a:ext cx="282268" cy="219456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23314" y="4309810"/>
            <a:ext cx="1324574" cy="1005840"/>
          </a:xfrm>
          <a:prstGeom prst="roundRect">
            <a:avLst>
              <a:gd name="adj" fmla="val 7273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23314" y="4309810"/>
            <a:ext cx="1324574" cy="10058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Mapped to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Components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1371600"/>
            <a:ext cx="8046720" cy="22580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functional schema captured every LMS function's purpose, inputs, logic, outputs, tables and roles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Cross-referenced with the 21-table ER diagram and UI screens to ensure functionality, data and interface stayed consistent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Served as a reference guide throughout subsequent development activities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470407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Aft>
                <a:spcPts val="1000"/>
              </a:spcAft>
              <a:buSzPct val="100000"/>
            </a:pPr>
            <a:r>
              <a:rPr lang="en-US" sz="32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PORTAL DEVELOPMENT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92899"/>
            <a:ext cx="8046720" cy="33940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5000"/>
              </a:lnSpc>
              <a:spcAft>
                <a:spcPts val="1000"/>
              </a:spcAft>
              <a:buSzPct val="100000"/>
            </a:pPr>
            <a:endParaRPr lang="en-US" sz="145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Evaluated the existing portal structure and administration workflows to identify required features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administrative interfaces matching the existing LMS design and navigation patterns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modules including Organization Dashboard, Branches, Branch Admins, Teachers, Students, Parents and Reports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built with React and TypeScript; all features integrated with existing UI, functional requirements and data structures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evaluation with the industry mentor, the portal was set aside from the current release scope to keep system complexity manageable</a:t>
            </a:r>
            <a:endParaRPr lang="en-US" sz="1450" dirty="0"/>
          </a:p>
        </p:txBody>
      </p:sp>
      <p:sp>
        <p:nvSpPr>
          <p:cNvPr id="4" name="Text 2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20040" y="135566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PORTAL — SCREENSHOTS</a:t>
            </a:r>
            <a:endParaRPr lang="en-US" sz="2800" dirty="0"/>
          </a:p>
        </p:txBody>
      </p:sp>
      <p:pic>
        <p:nvPicPr>
          <p:cNvPr id="3" name="Image 0" descr="/home/claude/assets/org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821366"/>
            <a:ext cx="5577840" cy="29046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640580" y="1837944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Organization Dashboard</a:t>
            </a:r>
            <a:endParaRPr lang="en-US" sz="1100" dirty="0"/>
          </a:p>
        </p:txBody>
      </p:sp>
      <p:pic>
        <p:nvPicPr>
          <p:cNvPr id="5" name="Image 1" descr="/home/claude/assets/branch_admi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802512"/>
            <a:ext cx="5673012" cy="29046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263640" y="4339202"/>
            <a:ext cx="2514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Branch Admins</a:t>
            </a:r>
            <a:endParaRPr lang="en-US" sz="1050" dirty="0"/>
          </a:p>
        </p:txBody>
      </p:sp>
      <p:sp>
        <p:nvSpPr>
          <p:cNvPr id="7" name="Text 3"/>
          <p:cNvSpPr txBox="1"/>
          <p:nvPr/>
        </p:nvSpPr>
        <p:spPr>
          <a:xfrm>
            <a:off x="6355080" y="4828180"/>
            <a:ext cx="2651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view of branches, students, teachers &amp; revenue</a:t>
            </a:r>
            <a:endParaRPr lang="en-US" sz="11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1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Branch-level admin management with status tracking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— RAG ARCHITECTURE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17581" y="138186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Ingestion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66404" y="1711607"/>
            <a:ext cx="1026277" cy="935021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66404" y="1739040"/>
            <a:ext cx="1060274" cy="79319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Upload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643905" y="2056468"/>
            <a:ext cx="224101" cy="18288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77021" y="1700178"/>
            <a:ext cx="914400" cy="91440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859794" y="1711608"/>
            <a:ext cx="914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808647" y="2077368"/>
            <a:ext cx="391883" cy="19431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3737" y="1711608"/>
            <a:ext cx="1094294" cy="91440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166510" y="1693880"/>
            <a:ext cx="114551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Jina Embeddings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(vectors)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29255" y="2054508"/>
            <a:ext cx="323865" cy="20574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53121" y="1688748"/>
            <a:ext cx="1164087" cy="91440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722028" y="1711608"/>
            <a:ext cx="9144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in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DB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74964" y="291805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4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Querying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74965" y="3238096"/>
            <a:ext cx="1136005" cy="91440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17582" y="3238096"/>
            <a:ext cx="1175100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26678" y="3603855"/>
            <a:ext cx="359229" cy="18288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9" name="Shape 17"/>
          <p:cNvSpPr/>
          <p:nvPr/>
        </p:nvSpPr>
        <p:spPr>
          <a:xfrm>
            <a:off x="2043570" y="3238095"/>
            <a:ext cx="1124712" cy="91440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108480" y="3272386"/>
            <a:ext cx="896108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236452" y="3594991"/>
            <a:ext cx="466343" cy="137160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719685" y="3262121"/>
            <a:ext cx="1459868" cy="914400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787242" y="3187944"/>
            <a:ext cx="1265045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(Top-K)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197841" y="3606188"/>
            <a:ext cx="397763" cy="180547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35642" y="3603856"/>
            <a:ext cx="469890" cy="182879"/>
          </a:xfrm>
          <a:prstGeom prst="rightArrow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314676" y="3238095"/>
            <a:ext cx="1124712" cy="962453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314676" y="3238096"/>
            <a:ext cx="1164087" cy="914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2043" y="4475427"/>
            <a:ext cx="8046720" cy="1767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source processed and split into chunks; Jina embeddings generate semantic vectors, stored for retrieval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 query, the most relevant chunks are retrieved and passed as context to a Groq-hosted LLM for response generation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Grounds responses in relevant context rather than relying only on the LLM's general knowledge</a:t>
            </a:r>
            <a:endParaRPr lang="en-US" sz="13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tested across varied user queries to validate response relevance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35" name="Shape 26">
            <a:extLst>
              <a:ext uri="{FF2B5EF4-FFF2-40B4-BE49-F238E27FC236}">
                <a16:creationId xmlns:a16="http://schemas.microsoft.com/office/drawing/2014/main" id="{4AA200E0-BE05-0FDB-ED3F-D15046C3E083}"/>
              </a:ext>
            </a:extLst>
          </p:cNvPr>
          <p:cNvSpPr/>
          <p:nvPr/>
        </p:nvSpPr>
        <p:spPr>
          <a:xfrm>
            <a:off x="5613892" y="3238096"/>
            <a:ext cx="1164087" cy="962453"/>
          </a:xfrm>
          <a:prstGeom prst="roundRect">
            <a:avLst>
              <a:gd name="adj" fmla="val 8000"/>
            </a:avLst>
          </a:prstGeom>
          <a:solidFill>
            <a:srgbClr val="DCE9F7"/>
          </a:solidFill>
          <a:ln w="12700">
            <a:solidFill>
              <a:srgbClr val="0070C0"/>
            </a:solidFill>
            <a:prstDash val="solid"/>
          </a:ln>
          <a:effectLst/>
        </p:spPr>
        <p:txBody>
          <a:bodyPr/>
          <a:lstStyle/>
          <a:p>
            <a:endParaRPr lang="en-US" sz="1300" b="1" dirty="0"/>
          </a:p>
          <a:p>
            <a:r>
              <a:rPr lang="en-US" sz="1300" b="1" dirty="0" err="1"/>
              <a:t>Groq</a:t>
            </a:r>
            <a:r>
              <a:rPr lang="en-US" sz="1300" b="1" dirty="0"/>
              <a:t> LLM + context</a:t>
            </a:r>
            <a:endParaRPr lang="en-IN" sz="1300" b="1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— INTERFACE &amp; FEATURES</a:t>
            </a:r>
            <a:endParaRPr lang="en-US" sz="3000" dirty="0"/>
          </a:p>
        </p:txBody>
      </p:sp>
      <p:pic>
        <p:nvPicPr>
          <p:cNvPr id="3" name="Image 0" descr="/home/claude/assets/ai_tu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932591"/>
            <a:ext cx="7660640" cy="3784665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249680" y="4911836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— AI Tutor chatbot interface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5341112"/>
            <a:ext cx="8046720" cy="147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AI Tutor frontend (previously missing from the LMS) and integrated it end-to-end with the RAG backend</a:t>
            </a:r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PDF-based, context-aware question answering</a:t>
            </a:r>
            <a:r>
              <a:rPr lang="en-US" sz="1400" dirty="0"/>
              <a:t>, </a:t>
            </a: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contextual responses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AI chatbot when no document is supplied</a:t>
            </a:r>
            <a:endParaRPr lang="en-US" sz="1350" dirty="0"/>
          </a:p>
        </p:txBody>
      </p:sp>
      <p:sp>
        <p:nvSpPr>
          <p:cNvPr id="7" name="Text 4"/>
          <p:cNvSpPr txBox="1"/>
          <p:nvPr/>
        </p:nvSpPr>
        <p:spPr>
          <a:xfrm>
            <a:off x="854964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PLATFORM FRONTEND ENHANCEMENTS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34440"/>
            <a:ext cx="80467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Studied the existing Student Platform's component structure, navigation flow and design principles before changing it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Updated and improved frontend components while preserving the LMS's existing visual design language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Enhancements tested and debugged to resolve interface and functionality issues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Gave practical experience modifying a live, production-oriented interface rather than building from scratch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36042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TECHNOLOGIES USED</a:t>
            </a:r>
            <a:endParaRPr lang="en-US" sz="3000" dirty="0"/>
          </a:p>
        </p:txBody>
      </p:sp>
      <p:sp>
        <p:nvSpPr>
          <p:cNvPr id="23" name="Shape 5">
            <a:extLst>
              <a:ext uri="{FF2B5EF4-FFF2-40B4-BE49-F238E27FC236}">
                <a16:creationId xmlns:a16="http://schemas.microsoft.com/office/drawing/2014/main" id="{26337C1D-2CBE-B633-2E82-C2C541FDCB53}"/>
              </a:ext>
            </a:extLst>
          </p:cNvPr>
          <p:cNvSpPr/>
          <p:nvPr/>
        </p:nvSpPr>
        <p:spPr>
          <a:xfrm>
            <a:off x="457199" y="1691640"/>
            <a:ext cx="8443341" cy="466138"/>
          </a:xfrm>
          <a:prstGeom prst="roundRect">
            <a:avLst>
              <a:gd name="adj" fmla="val 14286"/>
            </a:avLst>
          </a:prstGeom>
          <a:solidFill>
            <a:srgbClr val="1F3864"/>
          </a:solidFill>
          <a:ln/>
        </p:spPr>
      </p:sp>
      <p:sp>
        <p:nvSpPr>
          <p:cNvPr id="25" name="Text 6">
            <a:extLst>
              <a:ext uri="{FF2B5EF4-FFF2-40B4-BE49-F238E27FC236}">
                <a16:creationId xmlns:a16="http://schemas.microsoft.com/office/drawing/2014/main" id="{B110663F-A29A-56A9-1115-962C304FCDBE}"/>
              </a:ext>
            </a:extLst>
          </p:cNvPr>
          <p:cNvSpPr txBox="1"/>
          <p:nvPr/>
        </p:nvSpPr>
        <p:spPr>
          <a:xfrm>
            <a:off x="594359" y="1691640"/>
            <a:ext cx="2181987" cy="466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</a:t>
            </a:r>
            <a:endParaRPr lang="en-US" sz="1200" dirty="0"/>
          </a:p>
        </p:txBody>
      </p:sp>
      <p:sp>
        <p:nvSpPr>
          <p:cNvPr id="27" name="Text 7">
            <a:extLst>
              <a:ext uri="{FF2B5EF4-FFF2-40B4-BE49-F238E27FC236}">
                <a16:creationId xmlns:a16="http://schemas.microsoft.com/office/drawing/2014/main" id="{A8822E5B-5916-C546-BC88-3AC726323EA1}"/>
              </a:ext>
            </a:extLst>
          </p:cNvPr>
          <p:cNvSpPr txBox="1"/>
          <p:nvPr/>
        </p:nvSpPr>
        <p:spPr>
          <a:xfrm>
            <a:off x="2880360" y="1691640"/>
            <a:ext cx="1897380" cy="466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1200" dirty="0"/>
          </a:p>
        </p:txBody>
      </p:sp>
      <p:sp>
        <p:nvSpPr>
          <p:cNvPr id="29" name="Text 8">
            <a:extLst>
              <a:ext uri="{FF2B5EF4-FFF2-40B4-BE49-F238E27FC236}">
                <a16:creationId xmlns:a16="http://schemas.microsoft.com/office/drawing/2014/main" id="{6C5D1D82-CF3C-6FDD-0353-ED26AFAFC707}"/>
              </a:ext>
            </a:extLst>
          </p:cNvPr>
          <p:cNvSpPr txBox="1"/>
          <p:nvPr/>
        </p:nvSpPr>
        <p:spPr>
          <a:xfrm>
            <a:off x="4892040" y="1691640"/>
            <a:ext cx="3794760" cy="46613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2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B1AA7E06-BCC7-C6A0-89C3-42F084C11A0D}"/>
              </a:ext>
            </a:extLst>
          </p:cNvPr>
          <p:cNvSpPr/>
          <p:nvPr/>
        </p:nvSpPr>
        <p:spPr>
          <a:xfrm>
            <a:off x="457199" y="2075688"/>
            <a:ext cx="8443341" cy="52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33" name="Text 10">
            <a:extLst>
              <a:ext uri="{FF2B5EF4-FFF2-40B4-BE49-F238E27FC236}">
                <a16:creationId xmlns:a16="http://schemas.microsoft.com/office/drawing/2014/main" id="{62BBAE54-3923-065D-455F-F144B97E869B}"/>
              </a:ext>
            </a:extLst>
          </p:cNvPr>
          <p:cNvSpPr txBox="1"/>
          <p:nvPr/>
        </p:nvSpPr>
        <p:spPr>
          <a:xfrm>
            <a:off x="594359" y="2075688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35" name="Text 11">
            <a:extLst>
              <a:ext uri="{FF2B5EF4-FFF2-40B4-BE49-F238E27FC236}">
                <a16:creationId xmlns:a16="http://schemas.microsoft.com/office/drawing/2014/main" id="{99479C8D-2F2C-E3F6-06BC-938E96AED46B}"/>
              </a:ext>
            </a:extLst>
          </p:cNvPr>
          <p:cNvSpPr txBox="1"/>
          <p:nvPr/>
        </p:nvSpPr>
        <p:spPr>
          <a:xfrm>
            <a:off x="2880360" y="2075688"/>
            <a:ext cx="1897380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</a:t>
            </a:r>
            <a:endParaRPr lang="en-US" sz="1200" dirty="0"/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081E1B8A-4701-8D1C-CDD4-A7D0ECA86FE7}"/>
              </a:ext>
            </a:extLst>
          </p:cNvPr>
          <p:cNvSpPr txBox="1"/>
          <p:nvPr/>
        </p:nvSpPr>
        <p:spPr>
          <a:xfrm>
            <a:off x="4892039" y="2075688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dashboard, quiz, and academic-module user interfaces</a:t>
            </a:r>
            <a:endParaRPr lang="en-US" sz="1200" dirty="0"/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E8D99CF0-41A2-D96F-D100-70FB55EC2B43}"/>
              </a:ext>
            </a:extLst>
          </p:cNvPr>
          <p:cNvSpPr txBox="1"/>
          <p:nvPr/>
        </p:nvSpPr>
        <p:spPr>
          <a:xfrm>
            <a:off x="594359" y="2510028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41" name="Text 14">
            <a:extLst>
              <a:ext uri="{FF2B5EF4-FFF2-40B4-BE49-F238E27FC236}">
                <a16:creationId xmlns:a16="http://schemas.microsoft.com/office/drawing/2014/main" id="{EE0046F7-EF96-E6D8-52AD-5CEDC5C4A77B}"/>
              </a:ext>
            </a:extLst>
          </p:cNvPr>
          <p:cNvSpPr txBox="1"/>
          <p:nvPr/>
        </p:nvSpPr>
        <p:spPr>
          <a:xfrm>
            <a:off x="2880360" y="2510028"/>
            <a:ext cx="1897380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Node.js, Express.js</a:t>
            </a:r>
            <a:endParaRPr lang="en-US" sz="1200" dirty="0"/>
          </a:p>
        </p:txBody>
      </p:sp>
      <p:sp>
        <p:nvSpPr>
          <p:cNvPr id="43" name="Text 15">
            <a:extLst>
              <a:ext uri="{FF2B5EF4-FFF2-40B4-BE49-F238E27FC236}">
                <a16:creationId xmlns:a16="http://schemas.microsoft.com/office/drawing/2014/main" id="{FD06456A-9BD2-D0BE-00F9-AB4E22C0900C}"/>
              </a:ext>
            </a:extLst>
          </p:cNvPr>
          <p:cNvSpPr txBox="1"/>
          <p:nvPr/>
        </p:nvSpPr>
        <p:spPr>
          <a:xfrm>
            <a:off x="4892039" y="2510028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layer (Routes → Controller → Service)</a:t>
            </a:r>
            <a:endParaRPr lang="en-US" sz="1200" dirty="0"/>
          </a:p>
        </p:txBody>
      </p:sp>
      <p:sp>
        <p:nvSpPr>
          <p:cNvPr id="45" name="Shape 16">
            <a:extLst>
              <a:ext uri="{FF2B5EF4-FFF2-40B4-BE49-F238E27FC236}">
                <a16:creationId xmlns:a16="http://schemas.microsoft.com/office/drawing/2014/main" id="{0DFFF453-D48A-3141-3AF8-B10D239045CC}"/>
              </a:ext>
            </a:extLst>
          </p:cNvPr>
          <p:cNvSpPr/>
          <p:nvPr/>
        </p:nvSpPr>
        <p:spPr>
          <a:xfrm>
            <a:off x="457199" y="2944368"/>
            <a:ext cx="8443341" cy="52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47" name="Text 17">
            <a:extLst>
              <a:ext uri="{FF2B5EF4-FFF2-40B4-BE49-F238E27FC236}">
                <a16:creationId xmlns:a16="http://schemas.microsoft.com/office/drawing/2014/main" id="{19441700-6685-06A9-235D-CB916CBB6FAF}"/>
              </a:ext>
            </a:extLst>
          </p:cNvPr>
          <p:cNvSpPr txBox="1"/>
          <p:nvPr/>
        </p:nvSpPr>
        <p:spPr>
          <a:xfrm>
            <a:off x="594359" y="2944368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2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6D2336E9-9FFC-1581-4B51-BA0B78291D61}"/>
              </a:ext>
            </a:extLst>
          </p:cNvPr>
          <p:cNvSpPr txBox="1"/>
          <p:nvPr/>
        </p:nvSpPr>
        <p:spPr>
          <a:xfrm>
            <a:off x="2880360" y="2944368"/>
            <a:ext cx="1897380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</p:txBody>
      </p:sp>
      <p:sp>
        <p:nvSpPr>
          <p:cNvPr id="51" name="Text 19">
            <a:extLst>
              <a:ext uri="{FF2B5EF4-FFF2-40B4-BE49-F238E27FC236}">
                <a16:creationId xmlns:a16="http://schemas.microsoft.com/office/drawing/2014/main" id="{FA10367C-A11A-9AC2-1779-C5CAC2D3BB67}"/>
              </a:ext>
            </a:extLst>
          </p:cNvPr>
          <p:cNvSpPr txBox="1"/>
          <p:nvPr/>
        </p:nvSpPr>
        <p:spPr>
          <a:xfrm>
            <a:off x="4892039" y="2944368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 storage for users, courses, quizzes, attendance, etc.</a:t>
            </a:r>
            <a:endParaRPr lang="en-US" sz="1200" dirty="0"/>
          </a:p>
        </p:txBody>
      </p:sp>
      <p:sp>
        <p:nvSpPr>
          <p:cNvPr id="53" name="Text 20">
            <a:extLst>
              <a:ext uri="{FF2B5EF4-FFF2-40B4-BE49-F238E27FC236}">
                <a16:creationId xmlns:a16="http://schemas.microsoft.com/office/drawing/2014/main" id="{CA9B4715-6A78-48B1-2847-3B4E5F79AF26}"/>
              </a:ext>
            </a:extLst>
          </p:cNvPr>
          <p:cNvSpPr txBox="1"/>
          <p:nvPr/>
        </p:nvSpPr>
        <p:spPr>
          <a:xfrm>
            <a:off x="594359" y="3378708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</a:t>
            </a:r>
            <a:endParaRPr lang="en-US" sz="1200" dirty="0"/>
          </a:p>
        </p:txBody>
      </p:sp>
      <p:sp>
        <p:nvSpPr>
          <p:cNvPr id="55" name="Text 21">
            <a:extLst>
              <a:ext uri="{FF2B5EF4-FFF2-40B4-BE49-F238E27FC236}">
                <a16:creationId xmlns:a16="http://schemas.microsoft.com/office/drawing/2014/main" id="{11F31350-EEEB-9A64-A469-A9908DD4DBDD}"/>
              </a:ext>
            </a:extLst>
          </p:cNvPr>
          <p:cNvSpPr txBox="1"/>
          <p:nvPr/>
        </p:nvSpPr>
        <p:spPr>
          <a:xfrm>
            <a:off x="2880360" y="3378708"/>
            <a:ext cx="1897380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RAG, Embeddings, LLM</a:t>
            </a:r>
            <a:endParaRPr lang="en-US" sz="1200" b="1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57" name="Text 22">
            <a:extLst>
              <a:ext uri="{FF2B5EF4-FFF2-40B4-BE49-F238E27FC236}">
                <a16:creationId xmlns:a16="http://schemas.microsoft.com/office/drawing/2014/main" id="{862E2AEE-78A7-B2F9-C99C-EE507E9EAB61}"/>
              </a:ext>
            </a:extLst>
          </p:cNvPr>
          <p:cNvSpPr txBox="1"/>
          <p:nvPr/>
        </p:nvSpPr>
        <p:spPr>
          <a:xfrm>
            <a:off x="4892039" y="3378708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Provides context-aware responses by retrieving relevant learning content and generating answers using an LLM</a:t>
            </a:r>
            <a:endParaRPr lang="en-US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9" name="Shape 23">
            <a:extLst>
              <a:ext uri="{FF2B5EF4-FFF2-40B4-BE49-F238E27FC236}">
                <a16:creationId xmlns:a16="http://schemas.microsoft.com/office/drawing/2014/main" id="{67FC5F62-F73C-517D-5474-355C98A84054}"/>
              </a:ext>
            </a:extLst>
          </p:cNvPr>
          <p:cNvSpPr/>
          <p:nvPr/>
        </p:nvSpPr>
        <p:spPr>
          <a:xfrm>
            <a:off x="457199" y="3813048"/>
            <a:ext cx="8443341" cy="52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61" name="Text 24">
            <a:extLst>
              <a:ext uri="{FF2B5EF4-FFF2-40B4-BE49-F238E27FC236}">
                <a16:creationId xmlns:a16="http://schemas.microsoft.com/office/drawing/2014/main" id="{829AC95D-B084-FB12-C04F-E8B7DF5CC081}"/>
              </a:ext>
            </a:extLst>
          </p:cNvPr>
          <p:cNvSpPr txBox="1"/>
          <p:nvPr/>
        </p:nvSpPr>
        <p:spPr>
          <a:xfrm>
            <a:off x="594359" y="3813048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200" dirty="0"/>
          </a:p>
        </p:txBody>
      </p:sp>
      <p:sp>
        <p:nvSpPr>
          <p:cNvPr id="63" name="Text 25">
            <a:extLst>
              <a:ext uri="{FF2B5EF4-FFF2-40B4-BE49-F238E27FC236}">
                <a16:creationId xmlns:a16="http://schemas.microsoft.com/office/drawing/2014/main" id="{5047374A-5979-AC6E-4044-F835CEEC1EF3}"/>
              </a:ext>
            </a:extLst>
          </p:cNvPr>
          <p:cNvSpPr txBox="1"/>
          <p:nvPr/>
        </p:nvSpPr>
        <p:spPr>
          <a:xfrm>
            <a:off x="2880360" y="3905888"/>
            <a:ext cx="1897380" cy="4343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JWT, role-based checks</a:t>
            </a:r>
            <a:endParaRPr lang="en-US" sz="1200" dirty="0"/>
          </a:p>
          <a:p>
            <a:pPr marL="0" indent="0">
              <a:buNone/>
            </a:pPr>
            <a:endParaRPr lang="en-US" sz="1200" dirty="0"/>
          </a:p>
        </p:txBody>
      </p:sp>
      <p:sp>
        <p:nvSpPr>
          <p:cNvPr id="65" name="Text 26">
            <a:extLst>
              <a:ext uri="{FF2B5EF4-FFF2-40B4-BE49-F238E27FC236}">
                <a16:creationId xmlns:a16="http://schemas.microsoft.com/office/drawing/2014/main" id="{FDFF485B-217F-1121-6AA3-2B484F70A2E8}"/>
              </a:ext>
            </a:extLst>
          </p:cNvPr>
          <p:cNvSpPr txBox="1"/>
          <p:nvPr/>
        </p:nvSpPr>
        <p:spPr>
          <a:xfrm>
            <a:off x="4892039" y="3813048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5000"/>
              </a:lnSpc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session, and role/ownership-based access control</a:t>
            </a:r>
            <a:endParaRPr lang="en-US" sz="1200" dirty="0"/>
          </a:p>
        </p:txBody>
      </p:sp>
      <p:sp>
        <p:nvSpPr>
          <p:cNvPr id="81" name="Text 34">
            <a:extLst>
              <a:ext uri="{FF2B5EF4-FFF2-40B4-BE49-F238E27FC236}">
                <a16:creationId xmlns:a16="http://schemas.microsoft.com/office/drawing/2014/main" id="{074CC9CD-8F6A-8923-6BB8-0C3A47257B12}"/>
              </a:ext>
            </a:extLst>
          </p:cNvPr>
          <p:cNvSpPr txBox="1"/>
          <p:nvPr/>
        </p:nvSpPr>
        <p:spPr>
          <a:xfrm>
            <a:off x="594359" y="4366260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1200" dirty="0"/>
          </a:p>
        </p:txBody>
      </p:sp>
      <p:sp>
        <p:nvSpPr>
          <p:cNvPr id="83" name="Text 35">
            <a:extLst>
              <a:ext uri="{FF2B5EF4-FFF2-40B4-BE49-F238E27FC236}">
                <a16:creationId xmlns:a16="http://schemas.microsoft.com/office/drawing/2014/main" id="{509AB39C-EC2D-9C5A-DA04-4E961DB50F23}"/>
              </a:ext>
            </a:extLst>
          </p:cNvPr>
          <p:cNvSpPr txBox="1"/>
          <p:nvPr/>
        </p:nvSpPr>
        <p:spPr>
          <a:xfrm>
            <a:off x="2880360" y="4366260"/>
            <a:ext cx="1897380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Postman</a:t>
            </a:r>
            <a:endParaRPr lang="en-US" sz="1200" dirty="0"/>
          </a:p>
        </p:txBody>
      </p:sp>
      <p:sp>
        <p:nvSpPr>
          <p:cNvPr id="85" name="Text 36">
            <a:extLst>
              <a:ext uri="{FF2B5EF4-FFF2-40B4-BE49-F238E27FC236}">
                <a16:creationId xmlns:a16="http://schemas.microsoft.com/office/drawing/2014/main" id="{5F698A1F-229C-9A9F-9A65-CDFE41A1C92E}"/>
              </a:ext>
            </a:extLst>
          </p:cNvPr>
          <p:cNvSpPr txBox="1"/>
          <p:nvPr/>
        </p:nvSpPr>
        <p:spPr>
          <a:xfrm>
            <a:off x="4892039" y="4366260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verification of endpoints, validation, and authorization</a:t>
            </a:r>
            <a:endParaRPr lang="en-US" sz="1200" dirty="0"/>
          </a:p>
        </p:txBody>
      </p:sp>
      <p:sp>
        <p:nvSpPr>
          <p:cNvPr id="87" name="Shape 37">
            <a:extLst>
              <a:ext uri="{FF2B5EF4-FFF2-40B4-BE49-F238E27FC236}">
                <a16:creationId xmlns:a16="http://schemas.microsoft.com/office/drawing/2014/main" id="{9886638F-E973-7EFE-F320-F082522AC483}"/>
              </a:ext>
            </a:extLst>
          </p:cNvPr>
          <p:cNvSpPr/>
          <p:nvPr/>
        </p:nvSpPr>
        <p:spPr>
          <a:xfrm>
            <a:off x="457199" y="4800600"/>
            <a:ext cx="8443341" cy="527180"/>
          </a:xfrm>
          <a:prstGeom prst="rect">
            <a:avLst/>
          </a:prstGeom>
          <a:solidFill>
            <a:srgbClr val="F2F2F2"/>
          </a:solidFill>
          <a:ln/>
        </p:spPr>
      </p:sp>
      <p:sp>
        <p:nvSpPr>
          <p:cNvPr id="89" name="Text 38">
            <a:extLst>
              <a:ext uri="{FF2B5EF4-FFF2-40B4-BE49-F238E27FC236}">
                <a16:creationId xmlns:a16="http://schemas.microsoft.com/office/drawing/2014/main" id="{A91A6024-029E-EB4E-8D81-183A7952F86F}"/>
              </a:ext>
            </a:extLst>
          </p:cNvPr>
          <p:cNvSpPr txBox="1"/>
          <p:nvPr/>
        </p:nvSpPr>
        <p:spPr>
          <a:xfrm>
            <a:off x="594359" y="4800600"/>
            <a:ext cx="2181987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F38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200" dirty="0"/>
          </a:p>
        </p:txBody>
      </p:sp>
      <p:sp>
        <p:nvSpPr>
          <p:cNvPr id="91" name="Text 39">
            <a:extLst>
              <a:ext uri="{FF2B5EF4-FFF2-40B4-BE49-F238E27FC236}">
                <a16:creationId xmlns:a16="http://schemas.microsoft.com/office/drawing/2014/main" id="{B1B07A9F-AAF2-CE4E-E183-F4A01EEEFE87}"/>
              </a:ext>
            </a:extLst>
          </p:cNvPr>
          <p:cNvSpPr txBox="1"/>
          <p:nvPr/>
        </p:nvSpPr>
        <p:spPr>
          <a:xfrm>
            <a:off x="2880360" y="4800600"/>
            <a:ext cx="1897380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1200" dirty="0"/>
          </a:p>
        </p:txBody>
      </p:sp>
      <p:sp>
        <p:nvSpPr>
          <p:cNvPr id="93" name="Text 40">
            <a:extLst>
              <a:ext uri="{FF2B5EF4-FFF2-40B4-BE49-F238E27FC236}">
                <a16:creationId xmlns:a16="http://schemas.microsoft.com/office/drawing/2014/main" id="{23590FA0-2972-32C4-9117-5D0BB3077E9A}"/>
              </a:ext>
            </a:extLst>
          </p:cNvPr>
          <p:cNvSpPr txBox="1"/>
          <p:nvPr/>
        </p:nvSpPr>
        <p:spPr>
          <a:xfrm>
            <a:off x="4892039" y="4800600"/>
            <a:ext cx="3699891" cy="52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dirty="0">
                <a:solidFill>
                  <a:srgbClr val="5959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of backend and frontend, including production auth/proxy fixes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7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ACHIEVEMENTS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80467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Diagram: prepared and cross-checked against the ER diagram and UI for full consistency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LMS Architecture Analysis: examined how all users, modules and components interact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Portal: built and validated; consciously descoped after mentor review for future large-scale deployment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Application: built using Jina embeddings for semantic retrieval and Groq-based LLM for generation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Tutor: delivered an interactive, PDF-aware learning assistant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Portal: frontend improvements delivered in line with existing design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Validation: verified through multiple queries and interaction scenarios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 &amp; Teamwork: managed via Git and GitHub throughout</a:t>
            </a:r>
            <a:endParaRPr lang="en-US" sz="13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11480" y="365761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253134"/>
            <a:ext cx="8046720" cy="12391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endParaRPr lang="en-US" sz="1100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1E5E24E1-830D-911F-6411-0EBBEA211605}"/>
              </a:ext>
            </a:extLst>
          </p:cNvPr>
          <p:cNvSpPr/>
          <p:nvPr/>
        </p:nvSpPr>
        <p:spPr>
          <a:xfrm>
            <a:off x="502920" y="1417320"/>
            <a:ext cx="8138160" cy="960120"/>
          </a:xfrm>
          <a:prstGeom prst="roundRect">
            <a:avLst>
              <a:gd name="adj" fmla="val 5714"/>
            </a:avLst>
          </a:prstGeom>
          <a:solidFill>
            <a:srgbClr val="1F3864"/>
          </a:solidFill>
          <a:ln/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F8CFE25F-99DD-83F9-3D70-EBDFABF3FFBD}"/>
              </a:ext>
            </a:extLst>
          </p:cNvPr>
          <p:cNvSpPr txBox="1"/>
          <p:nvPr/>
        </p:nvSpPr>
        <p:spPr>
          <a:xfrm>
            <a:off x="731520" y="141732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Practice School-II internship at Venture X India allowed me to contribute to something with </a:t>
            </a: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stakes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 multi-purpose Learning Management System designed by a student group, rather than an exercise assigned as a classroom task.</a:t>
            </a:r>
            <a:endParaRPr lang="en-US" sz="1250" dirty="0"/>
          </a:p>
        </p:txBody>
      </p:sp>
      <p:sp>
        <p:nvSpPr>
          <p:cNvPr id="12" name="Shape 6">
            <a:extLst>
              <a:ext uri="{FF2B5EF4-FFF2-40B4-BE49-F238E27FC236}">
                <a16:creationId xmlns:a16="http://schemas.microsoft.com/office/drawing/2014/main" id="{1068D85A-E74A-C3FF-3D90-63326297D8D0}"/>
              </a:ext>
            </a:extLst>
          </p:cNvPr>
          <p:cNvSpPr/>
          <p:nvPr/>
        </p:nvSpPr>
        <p:spPr>
          <a:xfrm>
            <a:off x="502920" y="2606040"/>
            <a:ext cx="41148" cy="1600200"/>
          </a:xfrm>
          <a:prstGeom prst="rect">
            <a:avLst/>
          </a:prstGeom>
          <a:solidFill>
            <a:srgbClr val="4472C4"/>
          </a:solidFill>
          <a:ln/>
        </p:spPr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8CFBE030-A22B-B254-781A-6CAFA7E0A9C6}"/>
              </a:ext>
            </a:extLst>
          </p:cNvPr>
          <p:cNvSpPr/>
          <p:nvPr/>
        </p:nvSpPr>
        <p:spPr>
          <a:xfrm>
            <a:off x="544068" y="2606040"/>
            <a:ext cx="3890772" cy="1709928"/>
          </a:xfrm>
          <a:prstGeom prst="rect">
            <a:avLst/>
          </a:prstGeom>
          <a:solidFill>
            <a:srgbClr val="EAF1FB"/>
          </a:solidFill>
          <a:ln/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E3210C82-E03F-C0BE-2AE7-044229808B9D}"/>
              </a:ext>
            </a:extLst>
          </p:cNvPr>
          <p:cNvSpPr txBox="1"/>
          <p:nvPr/>
        </p:nvSpPr>
        <p:spPr>
          <a:xfrm>
            <a:off x="685800" y="2715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472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WAS DELIVERED</a:t>
            </a:r>
            <a:endParaRPr lang="en-US" sz="1100" dirty="0"/>
          </a:p>
        </p:txBody>
      </p:sp>
      <p:sp>
        <p:nvSpPr>
          <p:cNvPr id="18" name="Text 9">
            <a:extLst>
              <a:ext uri="{FF2B5EF4-FFF2-40B4-BE49-F238E27FC236}">
                <a16:creationId xmlns:a16="http://schemas.microsoft.com/office/drawing/2014/main" id="{6B483902-F54C-3184-0EEF-AF5DC8E18E6F}"/>
              </a:ext>
            </a:extLst>
          </p:cNvPr>
          <p:cNvSpPr txBox="1"/>
          <p:nvPr/>
        </p:nvSpPr>
        <p:spPr>
          <a:xfrm>
            <a:off x="685800" y="296265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 Admin Portal frontend development, workflow design and feature integration.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and UX enhancements made the platform more user-friendly and responsive</a:t>
            </a:r>
          </a:p>
          <a:p>
            <a:pPr marL="171450" indent="-171450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Tutor / RAG pipeline demonstrated the value of context-grounded AI in an educational setting</a:t>
            </a: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80853C76-4B11-7278-22C0-39CA1DBD88DC}"/>
              </a:ext>
            </a:extLst>
          </p:cNvPr>
          <p:cNvSpPr/>
          <p:nvPr/>
        </p:nvSpPr>
        <p:spPr>
          <a:xfrm>
            <a:off x="4709160" y="2606040"/>
            <a:ext cx="41148" cy="1600200"/>
          </a:xfrm>
          <a:prstGeom prst="rect">
            <a:avLst/>
          </a:prstGeom>
          <a:solidFill>
            <a:srgbClr val="1F7A6C"/>
          </a:solidFill>
          <a:ln/>
        </p:spPr>
      </p:sp>
      <p:sp>
        <p:nvSpPr>
          <p:cNvPr id="22" name="Shape 11">
            <a:extLst>
              <a:ext uri="{FF2B5EF4-FFF2-40B4-BE49-F238E27FC236}">
                <a16:creationId xmlns:a16="http://schemas.microsoft.com/office/drawing/2014/main" id="{A7ACB751-DE72-A7DD-B2EA-47ED1932744A}"/>
              </a:ext>
            </a:extLst>
          </p:cNvPr>
          <p:cNvSpPr/>
          <p:nvPr/>
        </p:nvSpPr>
        <p:spPr>
          <a:xfrm>
            <a:off x="4750308" y="2606040"/>
            <a:ext cx="3890772" cy="1600200"/>
          </a:xfrm>
          <a:prstGeom prst="rect">
            <a:avLst/>
          </a:prstGeom>
          <a:solidFill>
            <a:srgbClr val="EAF3EE"/>
          </a:solidFill>
          <a:ln/>
        </p:spPr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C72FE991-0334-8591-82BD-4B20AF115F01}"/>
              </a:ext>
            </a:extLst>
          </p:cNvPr>
          <p:cNvSpPr txBox="1"/>
          <p:nvPr/>
        </p:nvSpPr>
        <p:spPr>
          <a:xfrm>
            <a:off x="4892040" y="2715768"/>
            <a:ext cx="3566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F7A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WAS BUILT</a:t>
            </a:r>
            <a:endParaRPr lang="en-US" sz="1100" dirty="0"/>
          </a:p>
        </p:txBody>
      </p:sp>
      <p:sp>
        <p:nvSpPr>
          <p:cNvPr id="26" name="Text 13">
            <a:extLst>
              <a:ext uri="{FF2B5EF4-FFF2-40B4-BE49-F238E27FC236}">
                <a16:creationId xmlns:a16="http://schemas.microsoft.com/office/drawing/2014/main" id="{1472AE02-AA15-0904-63F3-CF4BAEDA6247}"/>
              </a:ext>
            </a:extLst>
          </p:cNvPr>
          <p:cNvSpPr txBox="1"/>
          <p:nvPr/>
        </p:nvSpPr>
        <p:spPr>
          <a:xfrm>
            <a:off x="4892040" y="2962656"/>
            <a:ext cx="3566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used a layered backend architecture and a relatively structured development process, with API testing and frontend integration used to confirm the functionality of the features developed.</a:t>
            </a:r>
            <a:endParaRPr lang="en-US" sz="1100" dirty="0"/>
          </a:p>
        </p:txBody>
      </p:sp>
      <p:sp>
        <p:nvSpPr>
          <p:cNvPr id="28" name="Shape 14">
            <a:extLst>
              <a:ext uri="{FF2B5EF4-FFF2-40B4-BE49-F238E27FC236}">
                <a16:creationId xmlns:a16="http://schemas.microsoft.com/office/drawing/2014/main" id="{F04988F3-C8FA-23B1-B1BC-45D31BAF2B2C}"/>
              </a:ext>
            </a:extLst>
          </p:cNvPr>
          <p:cNvSpPr/>
          <p:nvPr/>
        </p:nvSpPr>
        <p:spPr>
          <a:xfrm>
            <a:off x="502920" y="4434840"/>
            <a:ext cx="41148" cy="160020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0" name="Shape 15">
            <a:extLst>
              <a:ext uri="{FF2B5EF4-FFF2-40B4-BE49-F238E27FC236}">
                <a16:creationId xmlns:a16="http://schemas.microsoft.com/office/drawing/2014/main" id="{5D820F2D-4092-BCCC-BF76-F302DA3D1407}"/>
              </a:ext>
            </a:extLst>
          </p:cNvPr>
          <p:cNvSpPr/>
          <p:nvPr/>
        </p:nvSpPr>
        <p:spPr>
          <a:xfrm>
            <a:off x="544068" y="4434840"/>
            <a:ext cx="8097012" cy="1600200"/>
          </a:xfrm>
          <a:prstGeom prst="rect">
            <a:avLst/>
          </a:prstGeom>
          <a:solidFill>
            <a:srgbClr val="FDEDE4"/>
          </a:solidFill>
          <a:ln/>
        </p:spPr>
      </p:sp>
      <p:sp>
        <p:nvSpPr>
          <p:cNvPr id="32" name="Text 16">
            <a:extLst>
              <a:ext uri="{FF2B5EF4-FFF2-40B4-BE49-F238E27FC236}">
                <a16:creationId xmlns:a16="http://schemas.microsoft.com/office/drawing/2014/main" id="{028B647A-A536-B2DD-B698-4A8FC02B142A}"/>
              </a:ext>
            </a:extLst>
          </p:cNvPr>
          <p:cNvSpPr txBox="1"/>
          <p:nvPr/>
        </p:nvSpPr>
        <p:spPr>
          <a:xfrm>
            <a:off x="685800" y="454456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PROGRAMMING</a:t>
            </a:r>
            <a:endParaRPr lang="en-US" sz="1100" dirty="0"/>
          </a:p>
        </p:txBody>
      </p:sp>
      <p:sp>
        <p:nvSpPr>
          <p:cNvPr id="34" name="Text 17">
            <a:extLst>
              <a:ext uri="{FF2B5EF4-FFF2-40B4-BE49-F238E27FC236}">
                <a16:creationId xmlns:a16="http://schemas.microsoft.com/office/drawing/2014/main" id="{2F581D99-0833-D0CD-8FFC-B6D46B41E2B3}"/>
              </a:ext>
            </a:extLst>
          </p:cNvPr>
          <p:cNvSpPr txBox="1"/>
          <p:nvPr/>
        </p:nvSpPr>
        <p:spPr>
          <a:xfrm>
            <a:off x="685800" y="4782312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6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internship gave me practical experience of frontend development, making RAG application, API creation, authorization, testing, debugging and team programming — working within a codebase shared by multiple developers rather than in isolation.</a:t>
            </a:r>
            <a:endParaRPr lang="en-US" sz="1100" dirty="0"/>
          </a:p>
        </p:txBody>
      </p:sp>
      <p:sp>
        <p:nvSpPr>
          <p:cNvPr id="36" name="Shape 18">
            <a:extLst>
              <a:ext uri="{FF2B5EF4-FFF2-40B4-BE49-F238E27FC236}">
                <a16:creationId xmlns:a16="http://schemas.microsoft.com/office/drawing/2014/main" id="{895427DB-A1C8-B117-977D-60FC99DAF4A5}"/>
              </a:ext>
            </a:extLst>
          </p:cNvPr>
          <p:cNvSpPr/>
          <p:nvPr/>
        </p:nvSpPr>
        <p:spPr>
          <a:xfrm>
            <a:off x="685800" y="5440680"/>
            <a:ext cx="12192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38" name="Text 19">
            <a:extLst>
              <a:ext uri="{FF2B5EF4-FFF2-40B4-BE49-F238E27FC236}">
                <a16:creationId xmlns:a16="http://schemas.microsoft.com/office/drawing/2014/main" id="{8BC6CCCC-2DBC-EFE8-85B4-67E51455B485}"/>
              </a:ext>
            </a:extLst>
          </p:cNvPr>
          <p:cNvSpPr txBox="1"/>
          <p:nvPr/>
        </p:nvSpPr>
        <p:spPr>
          <a:xfrm>
            <a:off x="685800" y="5440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development</a:t>
            </a:r>
            <a:endParaRPr lang="en-US" sz="1100" dirty="0"/>
          </a:p>
        </p:txBody>
      </p:sp>
      <p:sp>
        <p:nvSpPr>
          <p:cNvPr id="40" name="Shape 20">
            <a:extLst>
              <a:ext uri="{FF2B5EF4-FFF2-40B4-BE49-F238E27FC236}">
                <a16:creationId xmlns:a16="http://schemas.microsoft.com/office/drawing/2014/main" id="{2153FEDC-9916-F470-7C55-E966211BD3F2}"/>
              </a:ext>
            </a:extLst>
          </p:cNvPr>
          <p:cNvSpPr/>
          <p:nvPr/>
        </p:nvSpPr>
        <p:spPr>
          <a:xfrm>
            <a:off x="1996440" y="5440680"/>
            <a:ext cx="12192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2" name="Text 21">
            <a:extLst>
              <a:ext uri="{FF2B5EF4-FFF2-40B4-BE49-F238E27FC236}">
                <a16:creationId xmlns:a16="http://schemas.microsoft.com/office/drawing/2014/main" id="{9C6E6B3B-DFB4-4E47-8D10-B81277DAB5B7}"/>
              </a:ext>
            </a:extLst>
          </p:cNvPr>
          <p:cNvSpPr txBox="1"/>
          <p:nvPr/>
        </p:nvSpPr>
        <p:spPr>
          <a:xfrm>
            <a:off x="1996440" y="5440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application</a:t>
            </a:r>
            <a:endParaRPr lang="en-US" sz="1100" dirty="0"/>
          </a:p>
        </p:txBody>
      </p:sp>
      <p:sp>
        <p:nvSpPr>
          <p:cNvPr id="44" name="Shape 22">
            <a:extLst>
              <a:ext uri="{FF2B5EF4-FFF2-40B4-BE49-F238E27FC236}">
                <a16:creationId xmlns:a16="http://schemas.microsoft.com/office/drawing/2014/main" id="{B7768774-2781-E568-61E8-40FF0C14ECAE}"/>
              </a:ext>
            </a:extLst>
          </p:cNvPr>
          <p:cNvSpPr/>
          <p:nvPr/>
        </p:nvSpPr>
        <p:spPr>
          <a:xfrm>
            <a:off x="3307080" y="5440680"/>
            <a:ext cx="12192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46" name="Text 23">
            <a:extLst>
              <a:ext uri="{FF2B5EF4-FFF2-40B4-BE49-F238E27FC236}">
                <a16:creationId xmlns:a16="http://schemas.microsoft.com/office/drawing/2014/main" id="{5A82EE3C-B0A0-6820-219F-0140929BAE70}"/>
              </a:ext>
            </a:extLst>
          </p:cNvPr>
          <p:cNvSpPr txBox="1"/>
          <p:nvPr/>
        </p:nvSpPr>
        <p:spPr>
          <a:xfrm>
            <a:off x="3307080" y="5440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creation</a:t>
            </a:r>
            <a:endParaRPr lang="en-US" sz="1100" dirty="0"/>
          </a:p>
        </p:txBody>
      </p:sp>
      <p:sp>
        <p:nvSpPr>
          <p:cNvPr id="48" name="Shape 24">
            <a:extLst>
              <a:ext uri="{FF2B5EF4-FFF2-40B4-BE49-F238E27FC236}">
                <a16:creationId xmlns:a16="http://schemas.microsoft.com/office/drawing/2014/main" id="{A38DED54-5073-15C8-0B23-91D2BBD64128}"/>
              </a:ext>
            </a:extLst>
          </p:cNvPr>
          <p:cNvSpPr/>
          <p:nvPr/>
        </p:nvSpPr>
        <p:spPr>
          <a:xfrm>
            <a:off x="4617720" y="5440680"/>
            <a:ext cx="12192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0" name="Text 25">
            <a:extLst>
              <a:ext uri="{FF2B5EF4-FFF2-40B4-BE49-F238E27FC236}">
                <a16:creationId xmlns:a16="http://schemas.microsoft.com/office/drawing/2014/main" id="{076C7C14-03B4-AECB-6EED-CC93348A1CF2}"/>
              </a:ext>
            </a:extLst>
          </p:cNvPr>
          <p:cNvSpPr txBox="1"/>
          <p:nvPr/>
        </p:nvSpPr>
        <p:spPr>
          <a:xfrm>
            <a:off x="4617720" y="5440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1100" dirty="0"/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3128E6D9-1043-CC16-787B-2C0F1D0AEA71}"/>
              </a:ext>
            </a:extLst>
          </p:cNvPr>
          <p:cNvSpPr/>
          <p:nvPr/>
        </p:nvSpPr>
        <p:spPr>
          <a:xfrm>
            <a:off x="5928360" y="5440680"/>
            <a:ext cx="12192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4" name="Text 27">
            <a:extLst>
              <a:ext uri="{FF2B5EF4-FFF2-40B4-BE49-F238E27FC236}">
                <a16:creationId xmlns:a16="http://schemas.microsoft.com/office/drawing/2014/main" id="{2FFE197C-76F8-48B8-1CEE-CFE71C39D884}"/>
              </a:ext>
            </a:extLst>
          </p:cNvPr>
          <p:cNvSpPr txBox="1"/>
          <p:nvPr/>
        </p:nvSpPr>
        <p:spPr>
          <a:xfrm>
            <a:off x="5928360" y="5440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00" dirty="0"/>
          </a:p>
        </p:txBody>
      </p:sp>
      <p:sp>
        <p:nvSpPr>
          <p:cNvPr id="56" name="Shape 28">
            <a:extLst>
              <a:ext uri="{FF2B5EF4-FFF2-40B4-BE49-F238E27FC236}">
                <a16:creationId xmlns:a16="http://schemas.microsoft.com/office/drawing/2014/main" id="{E487D010-B624-4BA8-98F8-6E4D251AC919}"/>
              </a:ext>
            </a:extLst>
          </p:cNvPr>
          <p:cNvSpPr/>
          <p:nvPr/>
        </p:nvSpPr>
        <p:spPr>
          <a:xfrm>
            <a:off x="7239000" y="5440680"/>
            <a:ext cx="1219200" cy="3657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58" name="Text 29">
            <a:extLst>
              <a:ext uri="{FF2B5EF4-FFF2-40B4-BE49-F238E27FC236}">
                <a16:creationId xmlns:a16="http://schemas.microsoft.com/office/drawing/2014/main" id="{C2309765-00C8-7D2C-608C-CA0EA78CB35A}"/>
              </a:ext>
            </a:extLst>
          </p:cNvPr>
          <p:cNvSpPr txBox="1"/>
          <p:nvPr/>
        </p:nvSpPr>
        <p:spPr>
          <a:xfrm>
            <a:off x="7239000" y="544068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55A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 &amp; FUTURE SCOPE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Reintroduce the Super Admin Portal for large-scale, multi-branch/organization deployment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AI Tutor with conversation history and personalized, subject-specific learning assistance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context-aware AI Tutor support tied to individual learning videos for in-lecture questions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timestamp-aware video assistance, pointing students to the exact lecture moment for an answer</a:t>
            </a:r>
            <a:endParaRPr lang="en-US" sz="160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 scalability and performance testing as users, courses, documents and AI interactions grow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OUTCOMES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experience converting business requirements into a functional schema and system processes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Strengthened frontend development skills using React and TypeScript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to integrate frontend components with backend services for dynamic data handling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Gained practical exposure to embeddings, semantic retrieval, prompts and RAG-based LLM integration</a:t>
            </a:r>
            <a:endParaRPr lang="en-US" sz="1350" dirty="0"/>
          </a:p>
          <a:p>
            <a:pPr marL="228600" indent="-228600">
              <a:lnSpc>
                <a:spcPct val="115000"/>
              </a:lnSpc>
              <a:spcAft>
                <a:spcPts val="1000"/>
              </a:spcAft>
              <a:buSzPct val="100000"/>
              <a:buChar char="●"/>
            </a:pPr>
            <a:r>
              <a:rPr lang="en-US" sz="135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debugging, testing, technical documentation and presentation skills</a:t>
            </a:r>
            <a:endParaRPr lang="en-US" sz="1350" dirty="0"/>
          </a:p>
        </p:txBody>
      </p:sp>
      <p:sp>
        <p:nvSpPr>
          <p:cNvPr id="5" name="Text 3"/>
          <p:cNvSpPr txBox="1"/>
          <p:nvPr/>
        </p:nvSpPr>
        <p:spPr>
          <a:xfrm>
            <a:off x="0" y="420624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3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C7D4E94-753B-1906-9C2D-0098FE18ABBB}"/>
              </a:ext>
            </a:extLst>
          </p:cNvPr>
          <p:cNvSpPr txBox="1"/>
          <p:nvPr/>
        </p:nvSpPr>
        <p:spPr>
          <a:xfrm>
            <a:off x="3312367" y="447869"/>
            <a:ext cx="182075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solidFill>
                  <a:srgbClr val="007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IN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0D63A-08CB-F45E-5F3D-AF9D9F5A8E77}"/>
              </a:ext>
            </a:extLst>
          </p:cNvPr>
          <p:cNvSpPr txBox="1"/>
          <p:nvPr/>
        </p:nvSpPr>
        <p:spPr>
          <a:xfrm>
            <a:off x="307910" y="1554884"/>
            <a:ext cx="82296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Pressman, R. S., &amp; Maxim, B. R. (2020). Software engineering: A practitioner's approach (9th ed.). McGraw-Hill Education.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Sommerville, I. (2016). Software engineering (10th ed.). Pearson.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Dennis, A., Wixom, B. H., &amp; Tegarden, D. (2020). Systems analysis and design: An object-oriented approach with UML (6th ed.).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Wiley. Wiegers, K. E., &amp; Beatty, J. (2013). Software requirements (3rd ed.). Microsoft Press.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Larman, C. (2004). Applying UML and patterns: An introduction to object-oriented analysis and design and iterative development (3rd ed.). Pearson Education.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/>
              <a:t>Ellis, R. K. (2009). A field guide to learning management systems. ASTD Learning Circuits.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 err="1"/>
              <a:t>Almaiah</a:t>
            </a:r>
            <a:r>
              <a:rPr lang="en-IN" sz="1600" dirty="0"/>
              <a:t>, M. A., Al-</a:t>
            </a:r>
            <a:r>
              <a:rPr lang="en-IN" sz="1600" dirty="0" err="1"/>
              <a:t>Khasawneh</a:t>
            </a:r>
            <a:r>
              <a:rPr lang="en-IN" sz="1600" dirty="0"/>
              <a:t>, A., &amp; </a:t>
            </a:r>
            <a:r>
              <a:rPr lang="en-IN" sz="1600" dirty="0" err="1"/>
              <a:t>Althunibat</a:t>
            </a:r>
            <a:r>
              <a:rPr lang="en-IN" sz="1600" dirty="0"/>
              <a:t>, A. (2020). Exploring the critical challenges and factors influencing the e-learning system usage during the COVID-19 pandemic. Education and Information Technologies, 25(6), 5261–5280.</a:t>
            </a:r>
          </a:p>
        </p:txBody>
      </p:sp>
    </p:spTree>
    <p:extLst>
      <p:ext uri="{BB962C8B-B14F-4D97-AF65-F5344CB8AC3E}">
        <p14:creationId xmlns:p14="http://schemas.microsoft.com/office/powerpoint/2010/main" val="39583985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822</TotalTime>
  <Words>2070</Words>
  <Application>Microsoft Office PowerPoint</Application>
  <PresentationFormat>On-screen Show (4:3)</PresentationFormat>
  <Paragraphs>292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Aniket Vaish</cp:lastModifiedBy>
  <cp:revision>7</cp:revision>
  <dcterms:created xsi:type="dcterms:W3CDTF">2026-08-31T18:04:22Z</dcterms:created>
  <dcterms:modified xsi:type="dcterms:W3CDTF">2026-09-02T03:10:23Z</dcterms:modified>
</cp:coreProperties>
</file>